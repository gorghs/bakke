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Open with the one-line positioning: BAKKE turns fragmented case evidence into multiple evidence-constrained hypotheses, checks them for contradictions, and visualizes the possibilities. State the boundary immediately — this is decision support for an investigator, not an autonomous investigator, and not a system that determines guilt.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failure modes, not four statistics. The point of the slide is that all four share a root cause: evidence is handled item by item, never reasoned over as a constrained system. Present the figures as context reported in the source literature, not as anything this system has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opportunity slide. Everything on the left already exists in a case file. What does not exist is a layer that takes all of it together and asks what is jointly possible. Name the four-step insertion — evidence, facts, timeline, hypotheses — because the rest of the deck follows that spine.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conceptual core. Traditional workflow converges on one theory early and then stops generating alternatives; that is the anchoring problem. BAKKE deliberately keeps several hypotheses alive and lets the constraint checker eliminate them rather than letting an investigator's first theory do it. Emphasise: elimination is by evidence, not by plausibility of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stages. Keep this brisk — it is the map for the architecture slide that follows. The line worth landing: uncertainty is carried forward rather than resolved early. An event that is only bounded in time stays bounded, and every downstream hypothesis inherits that looseness.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mandatory architecture slide. Walk down the layers, then stop on layer 04 — that is the research contribution and everything above it is standard pipeline engineering. Four modules: generation, constraint checking, contradiction detection, evidence linking and scoring. Close on the human-in-the-loop note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intellectual centre of the project. The interesting engineering is not generating scenarios — a language model will happily generate scenarios. It is testing each one against temporal, spatial, physical and evidentiary constraints and reporting what fails. Deliver the bottom line explicitly: a support score expresses consistency with the evidence available, not the probability that the scenario occurred. Also note that A and C both scoring HIGH is a legitimate output — it means the evidence does not yet discriminate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demo. Fictional case material, illustrative interface. Walk it left to right: evidence in, timeline built, three scenarios out. Land on the red IMPOSSIBLE flag — this is the output an investigating officer would actually act on, because it eliminates a line of enquiry using evidence they already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Schematic reconstruction. Say plainly why it is not photorealistic: a photoreal render of an unverified hypothesis carries an authority the underlying evidence cannot support, and would be indefensible in review. A schematic diagram is a working tool. This is also the segment that FARO and Leica sell into today, so the format is established practice rather than a compromise.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contribution. The gap is real — there is no public evaluation resource mapping evidence packages to plausible hypotheses. Building it is itself a contribution. Be explicit that the dataset is proposed work: nothing has been curated or evaluated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methodology, deliberately with no numbers on it. Four metric families plus a baseline comparison against a rule-based system and human judgement, analysed with k-fold and significance testing. If asked for results, the honest answer is that the evaluation framework is the current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Scope. Take the out-of-scope column seriously rather than apologetically — each exclusion has a defensible reason, and stating them pre-empts the questions an evaluator would otherwise ask. The in-scope column reuses an intake, retrieval, explainability and audit architecture that already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Five sequential phases ending in research output: a working prototype, a literature paper, a system paper and a comparative evaluation. Be clear that this is a research plan, not a deployment plan — no adoption or field-use claim is being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Return to the question and to the boundary: BAKKE does not answer with one story, it shows the possibilities the evidence can support, and the decision stays with the investigator.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79615" y="3657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BRIEF  ·  RESEARCH PROPOSAL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91440" cy="91440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" y="868680"/>
            <a:ext cx="91440" cy="91440"/>
          </a:xfrm>
          <a:prstGeom prst="rect">
            <a:avLst/>
          </a:prstGeom>
          <a:solidFill>
            <a:srgbClr val="EBD41C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868680"/>
            <a:ext cx="91440" cy="91440"/>
          </a:xfrm>
          <a:prstGeom prst="rect">
            <a:avLst/>
          </a:prstGeom>
          <a:solidFill>
            <a:srgbClr val="B312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8256" y="1133856"/>
            <a:ext cx="2651760" cy="106070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960120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92224" y="129844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12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5200" dirty="0"/>
          </a:p>
        </p:txBody>
      </p:sp>
      <p:sp>
        <p:nvSpPr>
          <p:cNvPr id="9" name="Text 5"/>
          <p:cNvSpPr/>
          <p:nvPr/>
        </p:nvSpPr>
        <p:spPr>
          <a:xfrm>
            <a:off x="640080" y="2157984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6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ACOUSTIC EVIDENCE INTELLIGENCE PLATFORM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40080" y="2487168"/>
            <a:ext cx="1005840" cy="0"/>
          </a:xfrm>
          <a:prstGeom prst="line">
            <a:avLst/>
          </a:prstGeom>
          <a:noFill/>
          <a:ln w="28575">
            <a:solidFill>
              <a:srgbClr val="B312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645920" y="2487168"/>
            <a:ext cx="420624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27432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Evidence-constrained hypothesis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for investigative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support.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40080" y="42245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 turns fragmented case evidence into multiple evidence-constrained hypotheses, checks them for contradictions, and visualizes the possibilities so investigators can make better-informed decisions.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5413248"/>
            <a:ext cx="292608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559612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DECISION SUPPORT  —  HUMAN IN THE LOOP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40080" y="6053328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 THE EVIDENCE.  VISUALIZE THE POSSIBILITIES.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446520" y="137160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EVIDENCE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8778240" y="13716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10424160" y="137160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6446520" y="1783080"/>
            <a:ext cx="5669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46520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E-01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7013448" y="1920240"/>
            <a:ext cx="192024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104888" y="2286000"/>
            <a:ext cx="5669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104888" y="236829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E-02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7671816" y="2423160"/>
            <a:ext cx="1261872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537960" y="2880360"/>
            <a:ext cx="5669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537960" y="296265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E-03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7104888" y="3017520"/>
            <a:ext cx="182880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159752" y="3401568"/>
            <a:ext cx="5669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159752" y="34838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E-04</a:t>
            </a:r>
            <a:endParaRPr lang="en-US" sz="700" dirty="0"/>
          </a:p>
        </p:txBody>
      </p:sp>
      <p:sp>
        <p:nvSpPr>
          <p:cNvPr id="31" name="Shape 27"/>
          <p:cNvSpPr/>
          <p:nvPr/>
        </p:nvSpPr>
        <p:spPr>
          <a:xfrm>
            <a:off x="7726680" y="3538728"/>
            <a:ext cx="1207008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501384" y="3931920"/>
            <a:ext cx="5669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501384" y="401421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E-05</a:t>
            </a:r>
            <a:endParaRPr lang="en-US" sz="700" dirty="0"/>
          </a:p>
        </p:txBody>
      </p:sp>
      <p:sp>
        <p:nvSpPr>
          <p:cNvPr id="34" name="Shape 30"/>
          <p:cNvSpPr/>
          <p:nvPr/>
        </p:nvSpPr>
        <p:spPr>
          <a:xfrm>
            <a:off x="7068312" y="4069080"/>
            <a:ext cx="1865376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086600" y="4434840"/>
            <a:ext cx="5669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086600" y="451713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E-06</a:t>
            </a:r>
            <a:endParaRPr lang="en-US" sz="700" dirty="0"/>
          </a:p>
        </p:txBody>
      </p:sp>
      <p:sp>
        <p:nvSpPr>
          <p:cNvPr id="37" name="Shape 33"/>
          <p:cNvSpPr/>
          <p:nvPr/>
        </p:nvSpPr>
        <p:spPr>
          <a:xfrm>
            <a:off x="7653528" y="4572000"/>
            <a:ext cx="128016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933688" y="1874520"/>
            <a:ext cx="0" cy="2743200"/>
          </a:xfrm>
          <a:prstGeom prst="line">
            <a:avLst/>
          </a:prstGeom>
          <a:noFill/>
          <a:ln w="15875">
            <a:solidFill>
              <a:srgbClr val="B8540C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892540" y="1879092"/>
            <a:ext cx="82296" cy="82296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892540" y="2382012"/>
            <a:ext cx="82296" cy="82296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8892540" y="2976372"/>
            <a:ext cx="82296" cy="82296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892540" y="3497580"/>
            <a:ext cx="82296" cy="82296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892540" y="4027932"/>
            <a:ext cx="82296" cy="82296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892540" y="4530852"/>
            <a:ext cx="82296" cy="82296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933688" y="2468880"/>
            <a:ext cx="1399032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332720" y="2212848"/>
            <a:ext cx="121615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8540C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10451592" y="231343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H-01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10451592" y="25054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650" dirty="0"/>
          </a:p>
        </p:txBody>
      </p:sp>
      <p:sp>
        <p:nvSpPr>
          <p:cNvPr id="49" name="Shape 45"/>
          <p:cNvSpPr/>
          <p:nvPr/>
        </p:nvSpPr>
        <p:spPr>
          <a:xfrm>
            <a:off x="8933688" y="3383280"/>
            <a:ext cx="1399032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0332720" y="3127248"/>
            <a:ext cx="121615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8540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0451592" y="322783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H-02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10451592" y="34198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8933688" y="4297680"/>
            <a:ext cx="1399032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0332720" y="4041648"/>
            <a:ext cx="121615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B8540C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10451592" y="414223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H-03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10451592" y="43342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650" dirty="0"/>
          </a:p>
        </p:txBody>
      </p:sp>
      <p:sp>
        <p:nvSpPr>
          <p:cNvPr id="57" name="Shape 53"/>
          <p:cNvSpPr/>
          <p:nvPr/>
        </p:nvSpPr>
        <p:spPr>
          <a:xfrm>
            <a:off x="8933688" y="2468880"/>
            <a:ext cx="0" cy="182880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446520" y="4983480"/>
            <a:ext cx="566928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446520" y="5120640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 →  FACTS  →  TIMELINE  →  CONSTRAINED HYPOTHESES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400"/>
            <a:ext cx="293705" cy="117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9176" y="365760"/>
            <a:ext cx="801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1" b="1" spc="307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1051" dirty="0"/>
          </a:p>
        </p:txBody>
      </p:sp>
      <p:sp>
        <p:nvSpPr>
          <p:cNvPr id="4" name="Text 1"/>
          <p:cNvSpPr/>
          <p:nvPr/>
        </p:nvSpPr>
        <p:spPr>
          <a:xfrm>
            <a:off x="9722815" y="365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658368"/>
            <a:ext cx="868680" cy="0"/>
          </a:xfrm>
          <a:prstGeom prst="line">
            <a:avLst/>
          </a:prstGeom>
          <a:noFill/>
          <a:ln w="28575">
            <a:solidFill>
              <a:srgbClr val="B854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3268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2529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exists.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connecting it.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30975" y="13167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FAILURE MODES IN INVESTIGATIVE WORKFLOWS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0080" y="2395728"/>
            <a:ext cx="2522144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2670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96112" y="3054096"/>
            <a:ext cx="384048" cy="0"/>
          </a:xfrm>
          <a:prstGeom prst="line">
            <a:avLst/>
          </a:prstGeom>
          <a:noFill/>
          <a:ln w="25400">
            <a:solidFill>
              <a:srgbClr val="B312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3264408"/>
            <a:ext cx="201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is collected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under-analyzed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96112" y="3986784"/>
            <a:ext cx="201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evidence is recovered, catalogued, and then never examined. The information exists; the analysis does not.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6112" y="5138928"/>
            <a:ext cx="201008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303520"/>
            <a:ext cx="64008" cy="64008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17" name="Text 14"/>
          <p:cNvSpPr/>
          <p:nvPr/>
        </p:nvSpPr>
        <p:spPr>
          <a:xfrm>
            <a:off x="1024128" y="5266944"/>
            <a:ext cx="188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650" b="1" spc="4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FRACTION OF HARD-TO-SOLVE</a:t>
            </a:r>
            <a:endParaRPr lang="en-US" sz="6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50" b="1" spc="4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REACH A FORENSIC LAB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3436544" y="2395728"/>
            <a:ext cx="2522144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92576" y="2670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692576" y="3054096"/>
            <a:ext cx="384048" cy="0"/>
          </a:xfrm>
          <a:prstGeom prst="line">
            <a:avLst/>
          </a:prstGeom>
          <a:noFill/>
          <a:ln w="25400">
            <a:solidFill>
              <a:srgbClr val="B312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92576" y="3264408"/>
            <a:ext cx="201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accounts conflict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physical evidence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692576" y="3986784"/>
            <a:ext cx="201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 reconstructive. Nothing systematically tests an account against what the physical evidence permits.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692576" y="5138928"/>
            <a:ext cx="201008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92576" y="5303520"/>
            <a:ext cx="64008" cy="64008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25" name="Text 22"/>
          <p:cNvSpPr/>
          <p:nvPr/>
        </p:nvSpPr>
        <p:spPr>
          <a:xfrm>
            <a:off x="3820592" y="5266944"/>
            <a:ext cx="188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650" b="1" spc="4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MISTAKEN EYEWITNESS ID LEADS</a:t>
            </a:r>
            <a:endParaRPr lang="en-US" sz="6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50" b="1" spc="4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EXONERATION CASES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6233008" y="2395728"/>
            <a:ext cx="2522144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89040" y="2670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489040" y="3054096"/>
            <a:ext cx="384048" cy="0"/>
          </a:xfrm>
          <a:prstGeom prst="line">
            <a:avLst/>
          </a:prstGeom>
          <a:noFill/>
          <a:ln w="25400">
            <a:solidFill>
              <a:srgbClr val="B3122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89040" y="3264408"/>
            <a:ext cx="201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and hit-and-run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stall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489040" y="3986784"/>
            <a:ext cx="201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clear lead, cases accumulate. Vehicles, participants and sequences are never resolved.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489040" y="5138928"/>
            <a:ext cx="201008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89040" y="5303520"/>
            <a:ext cx="64008" cy="64008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33" name="Text 30"/>
          <p:cNvSpPr/>
          <p:nvPr/>
        </p:nvSpPr>
        <p:spPr>
          <a:xfrm>
            <a:off x="6617056" y="5266944"/>
            <a:ext cx="188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650" b="1" spc="4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FATAL COLLISIONS INVOLVE</a:t>
            </a:r>
            <a:endParaRPr lang="en-US" sz="6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50" b="1" spc="4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NEVER-IDENTIFIED VEHICLES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9029471" y="2395728"/>
            <a:ext cx="2522144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285503" y="2670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285503" y="3054096"/>
            <a:ext cx="384048" cy="0"/>
          </a:xfrm>
          <a:prstGeom prst="line">
            <a:avLst/>
          </a:prstGeom>
          <a:noFill/>
          <a:ln w="25400">
            <a:solidFill>
              <a:srgbClr val="B3122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85503" y="3264408"/>
            <a:ext cx="201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Investigations anchor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one theory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9285503" y="3986784"/>
            <a:ext cx="201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theory emerges, alternative explanations stop being generated and disconfirming evidence is discounted.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9285503" y="5138928"/>
            <a:ext cx="201008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285503" y="5303520"/>
            <a:ext cx="64008" cy="64008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41" name="Text 38"/>
          <p:cNvSpPr/>
          <p:nvPr/>
        </p:nvSpPr>
        <p:spPr>
          <a:xfrm>
            <a:off x="9413519" y="5266944"/>
            <a:ext cx="188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650" b="1" spc="4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 TOOL FORCES</a:t>
            </a:r>
            <a:endParaRPr lang="en-US" sz="6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50" b="1" spc="4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EVIDENCE-CONSISTENT ALTERNATIVES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640080" y="60533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AS CITED IN THE PROJECT SOURCE DOCUMENTS  ·  NOT A RESULT OF THIS SYSTEM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400"/>
            <a:ext cx="293705" cy="117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9176" y="365760"/>
            <a:ext cx="801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1" b="1" spc="307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1051" dirty="0"/>
          </a:p>
        </p:txBody>
      </p:sp>
      <p:sp>
        <p:nvSpPr>
          <p:cNvPr id="4" name="Text 1"/>
          <p:cNvSpPr/>
          <p:nvPr/>
        </p:nvSpPr>
        <p:spPr>
          <a:xfrm>
            <a:off x="9722815" y="365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658368"/>
            <a:ext cx="868680" cy="0"/>
          </a:xfrm>
          <a:prstGeom prst="line">
            <a:avLst/>
          </a:prstGeom>
          <a:noFill/>
          <a:ln w="28575">
            <a:solidFill>
              <a:srgbClr val="B854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3268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GAP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2529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is fragmented.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reasoning is not structured.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30975" y="13167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PRODUCT OPPORTUNITY SITS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8600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CASE MATERIAL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40080" y="2523744"/>
            <a:ext cx="151790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" y="266090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304288" y="2523744"/>
            <a:ext cx="151790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50592" y="266090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40080" y="3063240"/>
            <a:ext cx="151790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320040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304288" y="3063240"/>
            <a:ext cx="151790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50592" y="320040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40080" y="3602736"/>
            <a:ext cx="151790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3739896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304288" y="3602736"/>
            <a:ext cx="151790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50592" y="3739896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EVIDENCE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640080" y="4142232"/>
            <a:ext cx="151790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" y="4279392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304288" y="4142232"/>
            <a:ext cx="151790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50592" y="4279392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40080" y="4745736"/>
            <a:ext cx="3182112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48920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TODAY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640080" y="5138928"/>
            <a:ext cx="59436" cy="59436"/>
          </a:xfrm>
          <a:prstGeom prst="rect">
            <a:avLst/>
          </a:prstGeom>
          <a:solidFill>
            <a:srgbClr val="9C9C9C"/>
          </a:solidFill>
          <a:ln/>
        </p:spPr>
      </p:sp>
      <p:sp>
        <p:nvSpPr>
          <p:cNvPr id="30" name="Text 27"/>
          <p:cNvSpPr/>
          <p:nvPr/>
        </p:nvSpPr>
        <p:spPr>
          <a:xfrm>
            <a:off x="786384" y="50932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item by item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40080" y="5358384"/>
            <a:ext cx="59436" cy="59436"/>
          </a:xfrm>
          <a:prstGeom prst="rect">
            <a:avLst/>
          </a:prstGeom>
          <a:solidFill>
            <a:srgbClr val="9C9C9C"/>
          </a:solidFill>
          <a:ln/>
        </p:spPr>
      </p:sp>
      <p:sp>
        <p:nvSpPr>
          <p:cNvPr id="32" name="Text 29"/>
          <p:cNvSpPr/>
          <p:nvPr/>
        </p:nvSpPr>
        <p:spPr>
          <a:xfrm>
            <a:off x="786384" y="53126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by hand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40080" y="5577840"/>
            <a:ext cx="59436" cy="59436"/>
          </a:xfrm>
          <a:prstGeom prst="rect">
            <a:avLst/>
          </a:prstGeom>
          <a:solidFill>
            <a:srgbClr val="9C9C9C"/>
          </a:solidFill>
          <a:ln/>
        </p:spPr>
      </p:sp>
      <p:sp>
        <p:nvSpPr>
          <p:cNvPr id="34" name="Text 31"/>
          <p:cNvSpPr/>
          <p:nvPr/>
        </p:nvSpPr>
        <p:spPr>
          <a:xfrm>
            <a:off x="786384" y="5532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in the investigator's head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822192" y="2715768"/>
            <a:ext cx="402336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822192" y="3255264"/>
            <a:ext cx="402336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822192" y="3794760"/>
            <a:ext cx="402336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822192" y="4334256"/>
            <a:ext cx="402336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224528" y="2715768"/>
            <a:ext cx="0" cy="1618488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224528" y="3506724"/>
            <a:ext cx="502920" cy="0"/>
          </a:xfrm>
          <a:prstGeom prst="line">
            <a:avLst/>
          </a:prstGeom>
          <a:noFill/>
          <a:ln w="12700">
            <a:solidFill>
              <a:srgbClr val="B3122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727448" y="2999232"/>
            <a:ext cx="2743200" cy="1097280"/>
          </a:xfrm>
          <a:prstGeom prst="rect">
            <a:avLst/>
          </a:prstGeom>
          <a:solidFill>
            <a:srgbClr val="F7F7F5"/>
          </a:solidFill>
          <a:ln w="15875">
            <a:solidFill>
              <a:srgbClr val="B3122E"/>
            </a:solidFill>
            <a:prstDash val="dash"/>
          </a:ln>
        </p:spPr>
      </p:sp>
      <p:sp>
        <p:nvSpPr>
          <p:cNvPr id="42" name="Text 39"/>
          <p:cNvSpPr/>
          <p:nvPr/>
        </p:nvSpPr>
        <p:spPr>
          <a:xfrm>
            <a:off x="4946904" y="32004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946904" y="34198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LAYER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4727448" y="42428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is stored, indexed and read individually — never reasoned over as one constrained system.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653528" y="2249424"/>
            <a:ext cx="0" cy="356616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927848" y="228600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BAKKE INSERTS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7927848" y="2670048"/>
            <a:ext cx="100584" cy="100584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165592" y="261518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8165592" y="28346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case material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7978140" y="2788920"/>
            <a:ext cx="0" cy="64008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927848" y="3493008"/>
            <a:ext cx="100584" cy="100584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16559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8165592" y="36576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structured, typed, sourced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7978140" y="3611880"/>
            <a:ext cx="0" cy="64008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927848" y="4315968"/>
            <a:ext cx="100584" cy="100584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165592" y="4261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8165592" y="44805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ordered, with uncertainty kept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7978140" y="4434840"/>
            <a:ext cx="0" cy="64008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927848" y="5138928"/>
            <a:ext cx="100584" cy="100584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165592" y="50840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</a:t>
            </a:r>
            <a:endParaRPr lang="en-US" sz="1150" dirty="0"/>
          </a:p>
        </p:txBody>
      </p:sp>
      <p:sp>
        <p:nvSpPr>
          <p:cNvPr id="61" name="Text 58"/>
          <p:cNvSpPr/>
          <p:nvPr/>
        </p:nvSpPr>
        <p:spPr>
          <a:xfrm>
            <a:off x="8165592" y="53035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constrained, checked, scored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63" name="Text 60"/>
          <p:cNvSpPr/>
          <p:nvPr/>
        </p:nvSpPr>
        <p:spPr>
          <a:xfrm>
            <a:off x="640080" y="632307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reasoning is the missing layer — not more evidence.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6583680" y="6382512"/>
            <a:ext cx="68580" cy="68580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65" name="Text 62"/>
          <p:cNvSpPr/>
          <p:nvPr/>
        </p:nvSpPr>
        <p:spPr>
          <a:xfrm>
            <a:off x="6739128" y="6341364"/>
            <a:ext cx="14730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KNOWN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8239658" y="6382512"/>
            <a:ext cx="68580" cy="68580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67" name="Text 64"/>
          <p:cNvSpPr/>
          <p:nvPr/>
        </p:nvSpPr>
        <p:spPr>
          <a:xfrm>
            <a:off x="8395106" y="6341364"/>
            <a:ext cx="14730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POSSIBLE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9895637" y="6382512"/>
            <a:ext cx="68580" cy="68580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69" name="Text 66"/>
          <p:cNvSpPr/>
          <p:nvPr/>
        </p:nvSpPr>
        <p:spPr>
          <a:xfrm>
            <a:off x="10051085" y="6341364"/>
            <a:ext cx="14730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EXCLUDED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400"/>
            <a:ext cx="293705" cy="117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9176" y="365760"/>
            <a:ext cx="801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1" b="1" spc="307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1051" dirty="0"/>
          </a:p>
        </p:txBody>
      </p:sp>
      <p:sp>
        <p:nvSpPr>
          <p:cNvPr id="4" name="Text 1"/>
          <p:cNvSpPr/>
          <p:nvPr/>
        </p:nvSpPr>
        <p:spPr>
          <a:xfrm>
            <a:off x="9722815" y="365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658368"/>
            <a:ext cx="868680" cy="0"/>
          </a:xfrm>
          <a:prstGeom prst="line">
            <a:avLst/>
          </a:prstGeom>
          <a:noFill/>
          <a:ln w="28575">
            <a:solidFill>
              <a:srgbClr val="B854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3268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BAKKE IDEA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2529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force one story.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multiple explanations.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30975" y="13167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NARRATIVE  →  MULTIPLE POSSIBILITIES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35915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WORKFLOW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2788920" cy="3063240"/>
          </a:xfrm>
          <a:prstGeom prst="rect">
            <a:avLst/>
          </a:prstGeom>
          <a:solidFill>
            <a:srgbClr val="EEEDE8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2852928"/>
            <a:ext cx="2240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0358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34198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3712464"/>
            <a:ext cx="2240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38953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emerging theory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14400" y="42793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" y="4572000"/>
            <a:ext cx="2240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4681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anchored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it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14400" y="5230368"/>
            <a:ext cx="224028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5394960"/>
            <a:ext cx="64008" cy="64008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22" name="Text 19"/>
          <p:cNvSpPr/>
          <p:nvPr/>
        </p:nvSpPr>
        <p:spPr>
          <a:xfrm>
            <a:off x="1051560" y="53583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 stop being generated.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86200" y="235915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 WORKFLOW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886200" y="2606040"/>
            <a:ext cx="7665415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60520" y="2926080"/>
            <a:ext cx="1097280" cy="457200"/>
          </a:xfrm>
          <a:prstGeom prst="rect">
            <a:avLst/>
          </a:prstGeom>
          <a:solidFill>
            <a:srgbClr val="F7F7F5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97096" y="30723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160520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case material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257800" y="3154680"/>
            <a:ext cx="128016" cy="0"/>
          </a:xfrm>
          <a:prstGeom prst="line">
            <a:avLst/>
          </a:prstGeom>
          <a:noFill/>
          <a:ln w="12700">
            <a:solidFill>
              <a:srgbClr val="E0842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85816" y="2926080"/>
            <a:ext cx="1097280" cy="457200"/>
          </a:xfrm>
          <a:prstGeom prst="rect">
            <a:avLst/>
          </a:prstGeom>
          <a:solidFill>
            <a:srgbClr val="F7F7F5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22392" y="30723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facts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385816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and sourced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6483096" y="3154680"/>
            <a:ext cx="128016" cy="0"/>
          </a:xfrm>
          <a:prstGeom prst="line">
            <a:avLst/>
          </a:prstGeom>
          <a:noFill/>
          <a:ln w="12700">
            <a:solidFill>
              <a:srgbClr val="E0842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611112" y="2926080"/>
            <a:ext cx="1097280" cy="457200"/>
          </a:xfrm>
          <a:prstGeom prst="rect">
            <a:avLst/>
          </a:prstGeom>
          <a:solidFill>
            <a:srgbClr val="F7F7F5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47688" y="30723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611112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events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7708392" y="3154680"/>
            <a:ext cx="182880" cy="0"/>
          </a:xfrm>
          <a:prstGeom prst="line">
            <a:avLst/>
          </a:prstGeom>
          <a:noFill/>
          <a:ln w="12700">
            <a:solidFill>
              <a:srgbClr val="E0842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891272" y="3154680"/>
            <a:ext cx="0" cy="1316736"/>
          </a:xfrm>
          <a:prstGeom prst="line">
            <a:avLst/>
          </a:prstGeom>
          <a:noFill/>
          <a:ln w="12700">
            <a:solidFill>
              <a:srgbClr val="E0842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891272" y="3154680"/>
            <a:ext cx="274320" cy="0"/>
          </a:xfrm>
          <a:prstGeom prst="line">
            <a:avLst/>
          </a:prstGeom>
          <a:noFill/>
          <a:ln w="12700">
            <a:solidFill>
              <a:srgbClr val="E0842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65592" y="2926080"/>
            <a:ext cx="1298448" cy="457200"/>
          </a:xfrm>
          <a:prstGeom prst="rect">
            <a:avLst/>
          </a:prstGeom>
          <a:solidFill>
            <a:srgbClr val="FDF2E7"/>
          </a:solidFill>
          <a:ln w="9525">
            <a:solidFill>
              <a:srgbClr val="B8540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75320" y="3008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H-01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8275320" y="3182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7891272" y="3813048"/>
            <a:ext cx="274320" cy="0"/>
          </a:xfrm>
          <a:prstGeom prst="line">
            <a:avLst/>
          </a:prstGeom>
          <a:noFill/>
          <a:ln w="12700">
            <a:solidFill>
              <a:srgbClr val="E0842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165592" y="3584448"/>
            <a:ext cx="1298448" cy="457200"/>
          </a:xfrm>
          <a:prstGeom prst="rect">
            <a:avLst/>
          </a:prstGeom>
          <a:solidFill>
            <a:srgbClr val="FDF2E7"/>
          </a:solidFill>
          <a:ln w="9525">
            <a:solidFill>
              <a:srgbClr val="B8540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75320" y="36667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H-02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8275320" y="384048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7891272" y="4471416"/>
            <a:ext cx="274320" cy="0"/>
          </a:xfrm>
          <a:prstGeom prst="line">
            <a:avLst/>
          </a:prstGeom>
          <a:noFill/>
          <a:ln w="12700">
            <a:solidFill>
              <a:srgbClr val="E0842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165592" y="4242816"/>
            <a:ext cx="1298448" cy="457200"/>
          </a:xfrm>
          <a:prstGeom prst="rect">
            <a:avLst/>
          </a:prstGeom>
          <a:solidFill>
            <a:srgbClr val="FDF2E7"/>
          </a:solidFill>
          <a:ln w="9525">
            <a:solidFill>
              <a:srgbClr val="B8540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275320" y="432511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H-03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8275320" y="44988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8165592" y="47731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spc="9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IN PARALLEL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9665208" y="3154680"/>
            <a:ext cx="0" cy="1316736"/>
          </a:xfrm>
          <a:prstGeom prst="line">
            <a:avLst/>
          </a:prstGeom>
          <a:noFill/>
          <a:ln w="12700">
            <a:solidFill>
              <a:srgbClr val="E0842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464040" y="3154680"/>
            <a:ext cx="256032" cy="0"/>
          </a:xfrm>
          <a:prstGeom prst="line">
            <a:avLst/>
          </a:prstGeom>
          <a:noFill/>
          <a:ln w="12700">
            <a:solidFill>
              <a:srgbClr val="E0842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464040" y="3813048"/>
            <a:ext cx="256032" cy="0"/>
          </a:xfrm>
          <a:prstGeom prst="line">
            <a:avLst/>
          </a:prstGeom>
          <a:noFill/>
          <a:ln w="12700">
            <a:solidFill>
              <a:srgbClr val="E0842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464040" y="4471416"/>
            <a:ext cx="256032" cy="0"/>
          </a:xfrm>
          <a:prstGeom prst="line">
            <a:avLst/>
          </a:prstGeom>
          <a:noFill/>
          <a:ln w="12700">
            <a:solidFill>
              <a:srgbClr val="E0842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665208" y="3813048"/>
            <a:ext cx="219456" cy="0"/>
          </a:xfrm>
          <a:prstGeom prst="line">
            <a:avLst/>
          </a:prstGeom>
          <a:noFill/>
          <a:ln w="12700">
            <a:solidFill>
              <a:srgbClr val="B3122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884664" y="3310128"/>
            <a:ext cx="1417320" cy="1005840"/>
          </a:xfrm>
          <a:prstGeom prst="rect">
            <a:avLst/>
          </a:prstGeom>
          <a:solidFill>
            <a:srgbClr val="F7F7F5"/>
          </a:solidFill>
          <a:ln w="15875">
            <a:solidFill>
              <a:srgbClr val="B3122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012680" y="34930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0012680" y="367588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0012680" y="38953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· spatial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· evidentiary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4160520" y="4864608"/>
            <a:ext cx="7116775" cy="47548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1" name="Text 58"/>
          <p:cNvSpPr/>
          <p:nvPr/>
        </p:nvSpPr>
        <p:spPr>
          <a:xfrm>
            <a:off x="4343400" y="50017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5715000" y="5010912"/>
            <a:ext cx="5470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investigator weighs the surviving hypotheses and decides.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4160520" y="5468112"/>
            <a:ext cx="64008" cy="64008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64" name="Text 61"/>
          <p:cNvSpPr/>
          <p:nvPr/>
        </p:nvSpPr>
        <p:spPr>
          <a:xfrm>
            <a:off x="4288536" y="5431536"/>
            <a:ext cx="6952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surviving hypothesis is linked to the evidence that supports it and the evidence that contradicts it.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640080" y="596188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BAKKE GENERATES POSSIBILITIES.  IT DOES NOT ESTABLISH WHAT HAPPENED.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400"/>
            <a:ext cx="293705" cy="117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9176" y="365760"/>
            <a:ext cx="801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1" b="1" spc="307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1051" dirty="0"/>
          </a:p>
        </p:txBody>
      </p:sp>
      <p:sp>
        <p:nvSpPr>
          <p:cNvPr id="4" name="Text 1"/>
          <p:cNvSpPr/>
          <p:nvPr/>
        </p:nvSpPr>
        <p:spPr>
          <a:xfrm>
            <a:off x="9722815" y="365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658368"/>
            <a:ext cx="868680" cy="0"/>
          </a:xfrm>
          <a:prstGeom prst="line">
            <a:avLst/>
          </a:prstGeom>
          <a:noFill/>
          <a:ln w="28575">
            <a:solidFill>
              <a:srgbClr val="B854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3268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PIPELINE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2529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fragmented evidence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testable hypotheses.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30975" y="13167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STAGES  ·  EVERY OUTPUT TRACES TO AN INPUT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628821" y="2852928"/>
            <a:ext cx="8934054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468880"/>
            <a:ext cx="19774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560241" y="2784348"/>
            <a:ext cx="137160" cy="137160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127248"/>
            <a:ext cx="1977481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3346704"/>
            <a:ext cx="1611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59536" y="3621024"/>
            <a:ext cx="365760" cy="0"/>
          </a:xfrm>
          <a:prstGeom prst="line">
            <a:avLst/>
          </a:prstGeom>
          <a:noFill/>
          <a:ln w="25400">
            <a:solidFill>
              <a:srgbClr val="B854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" y="3803904"/>
            <a:ext cx="153856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case material into structured, typed, source-linked facts.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59536" y="4718304"/>
            <a:ext cx="16117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· audio · image · report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2873593" y="2468880"/>
            <a:ext cx="19774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793754" y="2784348"/>
            <a:ext cx="137160" cy="137160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73593" y="3127248"/>
            <a:ext cx="1977481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93049" y="3346704"/>
            <a:ext cx="1611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093049" y="3621024"/>
            <a:ext cx="365760" cy="0"/>
          </a:xfrm>
          <a:prstGeom prst="line">
            <a:avLst/>
          </a:prstGeom>
          <a:noFill/>
          <a:ln w="25400">
            <a:solidFill>
              <a:srgbClr val="B8540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93049" y="3803904"/>
            <a:ext cx="153856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known and uncertain events, carrying the uncertainty forward.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093049" y="4718304"/>
            <a:ext cx="16117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· bounded · unknown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107107" y="2468880"/>
            <a:ext cx="19774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027268" y="2784348"/>
            <a:ext cx="137160" cy="137160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07107" y="3127248"/>
            <a:ext cx="1977481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26563" y="3346704"/>
            <a:ext cx="1611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326563" y="3621024"/>
            <a:ext cx="365760" cy="0"/>
          </a:xfrm>
          <a:prstGeom prst="line">
            <a:avLst/>
          </a:prstGeom>
          <a:noFill/>
          <a:ln w="25400">
            <a:solidFill>
              <a:srgbClr val="B8540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26563" y="3803904"/>
            <a:ext cx="153856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reasoning in the case record and forensic reference knowledge.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326563" y="4718304"/>
            <a:ext cx="16117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graph · RAG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340620" y="2468880"/>
            <a:ext cx="19774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260781" y="2784348"/>
            <a:ext cx="137160" cy="137160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40620" y="3127248"/>
            <a:ext cx="1977481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60076" y="3346704"/>
            <a:ext cx="1611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560076" y="3621024"/>
            <a:ext cx="365760" cy="0"/>
          </a:xfrm>
          <a:prstGeom prst="line">
            <a:avLst/>
          </a:prstGeom>
          <a:noFill/>
          <a:ln w="25400">
            <a:solidFill>
              <a:srgbClr val="B8540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60076" y="3803904"/>
            <a:ext cx="153856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multiple candidate scenarios rather than a single narrative.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560076" y="4718304"/>
            <a:ext cx="16117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candidate scenarios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9574134" y="2468880"/>
            <a:ext cx="19774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0494294" y="2784348"/>
            <a:ext cx="137160" cy="137160"/>
          </a:xfrm>
          <a:prstGeom prst="ellipse">
            <a:avLst/>
          </a:prstGeom>
          <a:solidFill>
            <a:srgbClr val="B3122E"/>
          </a:solidFill>
          <a:ln w="12700">
            <a:solidFill>
              <a:srgbClr val="B3122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74134" y="3127248"/>
            <a:ext cx="1977481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793590" y="3346704"/>
            <a:ext cx="1611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9793590" y="3621024"/>
            <a:ext cx="365760" cy="0"/>
          </a:xfrm>
          <a:prstGeom prst="line">
            <a:avLst/>
          </a:prstGeom>
          <a:noFill/>
          <a:ln w="25400">
            <a:solidFill>
              <a:srgbClr val="B3122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793590" y="3803904"/>
            <a:ext cx="153856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every scenario against evidence and physical constraints.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9793590" y="4718304"/>
            <a:ext cx="16117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· exclude · score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640080" y="470001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OUTPUT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640080" y="4919472"/>
            <a:ext cx="1977481" cy="402336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48" name="Shape 45"/>
          <p:cNvSpPr/>
          <p:nvPr/>
        </p:nvSpPr>
        <p:spPr>
          <a:xfrm>
            <a:off x="786384" y="5074920"/>
            <a:ext cx="64008" cy="64008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49" name="Text 46"/>
          <p:cNvSpPr/>
          <p:nvPr/>
        </p:nvSpPr>
        <p:spPr>
          <a:xfrm>
            <a:off x="932688" y="5038344"/>
            <a:ext cx="16117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2873593" y="4919472"/>
            <a:ext cx="1977481" cy="402336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51" name="Shape 48"/>
          <p:cNvSpPr/>
          <p:nvPr/>
        </p:nvSpPr>
        <p:spPr>
          <a:xfrm>
            <a:off x="3019897" y="5074920"/>
            <a:ext cx="64008" cy="64008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52" name="Text 49"/>
          <p:cNvSpPr/>
          <p:nvPr/>
        </p:nvSpPr>
        <p:spPr>
          <a:xfrm>
            <a:off x="3166201" y="5038344"/>
            <a:ext cx="16117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ORDER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5107107" y="4919472"/>
            <a:ext cx="1977481" cy="402336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54" name="Shape 51"/>
          <p:cNvSpPr/>
          <p:nvPr/>
        </p:nvSpPr>
        <p:spPr>
          <a:xfrm>
            <a:off x="5253411" y="5074920"/>
            <a:ext cx="64008" cy="64008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55" name="Text 52"/>
          <p:cNvSpPr/>
          <p:nvPr/>
        </p:nvSpPr>
        <p:spPr>
          <a:xfrm>
            <a:off x="5399715" y="5038344"/>
            <a:ext cx="16117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CONTEXT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340620" y="4919472"/>
            <a:ext cx="1977481" cy="402336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57" name="Shape 54"/>
          <p:cNvSpPr/>
          <p:nvPr/>
        </p:nvSpPr>
        <p:spPr>
          <a:xfrm>
            <a:off x="7486924" y="5074920"/>
            <a:ext cx="64008" cy="64008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58" name="Text 55"/>
          <p:cNvSpPr/>
          <p:nvPr/>
        </p:nvSpPr>
        <p:spPr>
          <a:xfrm>
            <a:off x="7633228" y="5038344"/>
            <a:ext cx="16117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SET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9574134" y="4919472"/>
            <a:ext cx="1977481" cy="402336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60" name="Shape 57"/>
          <p:cNvSpPr/>
          <p:nvPr/>
        </p:nvSpPr>
        <p:spPr>
          <a:xfrm>
            <a:off x="9720438" y="5074920"/>
            <a:ext cx="64008" cy="64008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61" name="Text 58"/>
          <p:cNvSpPr/>
          <p:nvPr/>
        </p:nvSpPr>
        <p:spPr>
          <a:xfrm>
            <a:off x="9866742" y="5038344"/>
            <a:ext cx="16117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VERDICT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63" name="Text 60"/>
          <p:cNvSpPr/>
          <p:nvPr/>
        </p:nvSpPr>
        <p:spPr>
          <a:xfrm>
            <a:off x="640080" y="623163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is auditable end to end.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6583680" y="6291072"/>
            <a:ext cx="68580" cy="68580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65" name="Text 62"/>
          <p:cNvSpPr/>
          <p:nvPr/>
        </p:nvSpPr>
        <p:spPr>
          <a:xfrm>
            <a:off x="6739128" y="6249924"/>
            <a:ext cx="14730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SOURCED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8239658" y="6291072"/>
            <a:ext cx="68580" cy="68580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67" name="Text 64"/>
          <p:cNvSpPr/>
          <p:nvPr/>
        </p:nvSpPr>
        <p:spPr>
          <a:xfrm>
            <a:off x="8395106" y="6249924"/>
            <a:ext cx="14730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EXPLAINED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9895637" y="6291072"/>
            <a:ext cx="68580" cy="68580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69" name="Text 66"/>
          <p:cNvSpPr/>
          <p:nvPr/>
        </p:nvSpPr>
        <p:spPr>
          <a:xfrm>
            <a:off x="10051085" y="6249924"/>
            <a:ext cx="14730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TRACEABLE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400"/>
            <a:ext cx="293705" cy="117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9176" y="365760"/>
            <a:ext cx="801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1" b="1" spc="307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1051" dirty="0"/>
          </a:p>
        </p:txBody>
      </p:sp>
      <p:sp>
        <p:nvSpPr>
          <p:cNvPr id="4" name="Text 1"/>
          <p:cNvSpPr/>
          <p:nvPr/>
        </p:nvSpPr>
        <p:spPr>
          <a:xfrm>
            <a:off x="9722815" y="365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658368"/>
            <a:ext cx="868680" cy="0"/>
          </a:xfrm>
          <a:prstGeom prst="line">
            <a:avLst/>
          </a:prstGeom>
          <a:noFill/>
          <a:ln w="28575">
            <a:solidFill>
              <a:srgbClr val="B854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3268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2529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→ Intelligence → Investigator.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30975" y="13167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 →  REASONING  →  DECISION SUPPORT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0665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E08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24128" y="20756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EVIDENCE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2432304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spc="7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LAYER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2487168" y="2048256"/>
            <a:ext cx="121654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51176" y="2221992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files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795152" y="2048256"/>
            <a:ext cx="121654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59160" y="2148840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103136" y="2048256"/>
            <a:ext cx="121654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67144" y="2221992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411120" y="2048256"/>
            <a:ext cx="121654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5128" y="2221992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719104" y="2048256"/>
            <a:ext cx="121654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83112" y="2148840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27087" y="2048256"/>
            <a:ext cx="121654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91095" y="2148840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0335071" y="2048256"/>
            <a:ext cx="121654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399079" y="2148840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/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882232" y="2542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8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" y="27614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E08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024128" y="27706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487168" y="2743200"/>
            <a:ext cx="1739737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51176" y="2916936"/>
            <a:ext cx="16117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318345" y="2743200"/>
            <a:ext cx="1739737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82353" y="2916936"/>
            <a:ext cx="16117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149523" y="2743200"/>
            <a:ext cx="1739737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13531" y="2843784"/>
            <a:ext cx="16117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/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980700" y="2743200"/>
            <a:ext cx="1739737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044708" y="2843784"/>
            <a:ext cx="16117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9811878" y="2743200"/>
            <a:ext cx="1739737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875886" y="2843784"/>
            <a:ext cx="16117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882232" y="32369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8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40080" y="34564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E08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1024128" y="34655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40080" y="3822192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spc="7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LAYER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2487168" y="3438144"/>
            <a:ext cx="143454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551176" y="3611880"/>
            <a:ext cx="13065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013149" y="3438144"/>
            <a:ext cx="143454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077157" y="3611880"/>
            <a:ext cx="13065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539130" y="3438144"/>
            <a:ext cx="143454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603138" y="3611880"/>
            <a:ext cx="13065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7065112" y="3438144"/>
            <a:ext cx="143454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129120" y="3538728"/>
            <a:ext cx="13065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8591093" y="3438144"/>
            <a:ext cx="143454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655101" y="3611880"/>
            <a:ext cx="13065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graph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10117074" y="3438144"/>
            <a:ext cx="143454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181082" y="3538728"/>
            <a:ext cx="13065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882232" y="3931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8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640080" y="41513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1024128" y="41605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40080" y="4517136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spc="7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CONTRIBUTION</a:t>
            </a:r>
            <a:endParaRPr lang="en-US" sz="600" dirty="0"/>
          </a:p>
        </p:txBody>
      </p:sp>
      <p:sp>
        <p:nvSpPr>
          <p:cNvPr id="60" name="Shape 57"/>
          <p:cNvSpPr/>
          <p:nvPr/>
        </p:nvSpPr>
        <p:spPr>
          <a:xfrm>
            <a:off x="2359152" y="4041648"/>
            <a:ext cx="9192463" cy="1152144"/>
          </a:xfrm>
          <a:prstGeom prst="rect">
            <a:avLst/>
          </a:prstGeom>
          <a:solidFill>
            <a:srgbClr val="FDF2E7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487168" y="4133088"/>
            <a:ext cx="219753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615184" y="4279392"/>
            <a:ext cx="1941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2615184" y="4681728"/>
            <a:ext cx="1941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candidate scenarios, not one narrative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4776140" y="4133088"/>
            <a:ext cx="219753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6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904156" y="4279392"/>
            <a:ext cx="1941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4904156" y="4681728"/>
            <a:ext cx="1941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Temporal, spatial, physical, evidentiary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7065112" y="4133088"/>
            <a:ext cx="219753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6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7193128" y="4279392"/>
            <a:ext cx="1941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Contradiction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69" name="Text 66"/>
          <p:cNvSpPr/>
          <p:nvPr/>
        </p:nvSpPr>
        <p:spPr>
          <a:xfrm>
            <a:off x="7193128" y="4681728"/>
            <a:ext cx="1941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and impossible conditions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9354083" y="4133088"/>
            <a:ext cx="219753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6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482099" y="4279392"/>
            <a:ext cx="1941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Linking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Scoring</a:t>
            </a:r>
            <a:endParaRPr lang="en-US" sz="1050" dirty="0"/>
          </a:p>
        </p:txBody>
      </p:sp>
      <p:sp>
        <p:nvSpPr>
          <p:cNvPr id="72" name="Text 69"/>
          <p:cNvSpPr/>
          <p:nvPr/>
        </p:nvSpPr>
        <p:spPr>
          <a:xfrm>
            <a:off x="9482099" y="4681728"/>
            <a:ext cx="1941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score from evidence consistency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6882232" y="51937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8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640080" y="53949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E08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75" name="Text 72"/>
          <p:cNvSpPr/>
          <p:nvPr/>
        </p:nvSpPr>
        <p:spPr>
          <a:xfrm>
            <a:off x="1024128" y="54041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640080" y="576072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spc="7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DECISION-SUPPORT LAYER</a:t>
            </a:r>
            <a:endParaRPr lang="en-US" sz="600" dirty="0"/>
          </a:p>
        </p:txBody>
      </p:sp>
      <p:sp>
        <p:nvSpPr>
          <p:cNvPr id="77" name="Shape 74"/>
          <p:cNvSpPr/>
          <p:nvPr/>
        </p:nvSpPr>
        <p:spPr>
          <a:xfrm>
            <a:off x="2487168" y="5376672"/>
            <a:ext cx="121654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2551176" y="5495544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3795152" y="5376672"/>
            <a:ext cx="121654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859160" y="5495544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5103136" y="5376672"/>
            <a:ext cx="121654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167144" y="5495544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Contradiction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6411120" y="5376672"/>
            <a:ext cx="121654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6475128" y="5568696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7719104" y="5376672"/>
            <a:ext cx="121654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7783112" y="5495544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storyboard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9027087" y="5376672"/>
            <a:ext cx="121654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9091095" y="5495544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10335071" y="5376672"/>
            <a:ext cx="121654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10399079" y="5568696"/>
            <a:ext cx="108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</p:txBody>
      </p:sp>
      <p:sp>
        <p:nvSpPr>
          <p:cNvPr id="91" name="Shape 88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92" name="Text 89"/>
          <p:cNvSpPr/>
          <p:nvPr/>
        </p:nvSpPr>
        <p:spPr>
          <a:xfrm>
            <a:off x="640080" y="634593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 supports investigative judgment; it does not replace it.</a:t>
            </a:r>
            <a:endParaRPr lang="en-US" sz="1150" dirty="0"/>
          </a:p>
        </p:txBody>
      </p:sp>
      <p:sp>
        <p:nvSpPr>
          <p:cNvPr id="93" name="Shape 90"/>
          <p:cNvSpPr/>
          <p:nvPr/>
        </p:nvSpPr>
        <p:spPr>
          <a:xfrm>
            <a:off x="6583680" y="6405372"/>
            <a:ext cx="68580" cy="6858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94" name="Text 91"/>
          <p:cNvSpPr/>
          <p:nvPr/>
        </p:nvSpPr>
        <p:spPr>
          <a:xfrm>
            <a:off x="6739128" y="6364224"/>
            <a:ext cx="47850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400"/>
            <a:ext cx="293705" cy="117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9176" y="365760"/>
            <a:ext cx="801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1" b="1" spc="307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1051" dirty="0"/>
          </a:p>
        </p:txBody>
      </p:sp>
      <p:sp>
        <p:nvSpPr>
          <p:cNvPr id="4" name="Text 1"/>
          <p:cNvSpPr/>
          <p:nvPr/>
        </p:nvSpPr>
        <p:spPr>
          <a:xfrm>
            <a:off x="9722815" y="365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658368"/>
            <a:ext cx="868680" cy="0"/>
          </a:xfrm>
          <a:prstGeom prst="line">
            <a:avLst/>
          </a:prstGeom>
          <a:noFill/>
          <a:ln w="28575">
            <a:solidFill>
              <a:srgbClr val="B854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3268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 ENGINE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2529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intelligence is not prediction.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constraint checking.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30975" y="13167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EXAMPLE  ·  ONE CASE, THREE HYPOTHESES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338114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2615184"/>
            <a:ext cx="28690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96112" y="2944368"/>
            <a:ext cx="2869082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309067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EVIDENCE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896112" y="3273552"/>
            <a:ext cx="566928" cy="237744"/>
          </a:xfrm>
          <a:prstGeom prst="rect">
            <a:avLst/>
          </a:prstGeom>
          <a:solidFill>
            <a:srgbClr val="FDF2E7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33375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E-01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1554480" y="3273552"/>
            <a:ext cx="566928" cy="237744"/>
          </a:xfrm>
          <a:prstGeom prst="rect">
            <a:avLst/>
          </a:prstGeom>
          <a:solidFill>
            <a:srgbClr val="FDF2E7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54480" y="33375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E-03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2212848" y="3273552"/>
            <a:ext cx="566928" cy="237744"/>
          </a:xfrm>
          <a:prstGeom prst="rect">
            <a:avLst/>
          </a:prstGeom>
          <a:solidFill>
            <a:srgbClr val="FDF2E7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12848" y="33375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E-07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896112" y="36941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CONFLICTS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896112" y="38587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353312" y="3968496"/>
            <a:ext cx="2375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statement(s) disagree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96112" y="4297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VIOLATIONS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896112" y="44622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353312" y="4572000"/>
            <a:ext cx="2375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detected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96112" y="4901184"/>
            <a:ext cx="2869082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96112" y="50292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EVIDENCE-SUPPORT SCORE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896112" y="5193792"/>
            <a:ext cx="2869082" cy="109728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29" name="Shape 26"/>
          <p:cNvSpPr/>
          <p:nvPr/>
        </p:nvSpPr>
        <p:spPr>
          <a:xfrm>
            <a:off x="896112" y="5193792"/>
            <a:ext cx="2237884" cy="109728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30" name="Text 27"/>
          <p:cNvSpPr/>
          <p:nvPr/>
        </p:nvSpPr>
        <p:spPr>
          <a:xfrm>
            <a:off x="896112" y="534009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40080" y="5742432"/>
            <a:ext cx="33811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with the physical record; one witness account disagrees.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405274" y="2377440"/>
            <a:ext cx="338114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12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61306" y="2615184"/>
            <a:ext cx="28690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B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661306" y="2944368"/>
            <a:ext cx="2869082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61306" y="309067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EVIDENCE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4661306" y="3273552"/>
            <a:ext cx="566928" cy="237744"/>
          </a:xfrm>
          <a:prstGeom prst="rect">
            <a:avLst/>
          </a:prstGeom>
          <a:solidFill>
            <a:srgbClr val="FDF2E7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61306" y="33375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E-02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5319674" y="3273552"/>
            <a:ext cx="566928" cy="237744"/>
          </a:xfrm>
          <a:prstGeom prst="rect">
            <a:avLst/>
          </a:prstGeom>
          <a:solidFill>
            <a:srgbClr val="FDF2E7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319674" y="33375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E-05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4661306" y="36941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CONFLICTS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4661306" y="38587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9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5118506" y="3968496"/>
            <a:ext cx="2375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statement(s) disagree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661306" y="4297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VIOLATIONS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4661306" y="44622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5118506" y="4572000"/>
            <a:ext cx="2375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CONDITION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661306" y="4901184"/>
            <a:ext cx="2869082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661306" y="50292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EVIDENCE-SUPPORT SCORE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4661306" y="5193792"/>
            <a:ext cx="2869082" cy="109728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49" name="Shape 46"/>
          <p:cNvSpPr/>
          <p:nvPr/>
        </p:nvSpPr>
        <p:spPr>
          <a:xfrm>
            <a:off x="4661306" y="5193792"/>
            <a:ext cx="1205015" cy="109728"/>
          </a:xfrm>
          <a:prstGeom prst="rect">
            <a:avLst/>
          </a:prstGeom>
          <a:solidFill>
            <a:srgbClr val="EBD41C"/>
          </a:solidFill>
          <a:ln/>
        </p:spPr>
      </p:sp>
      <p:sp>
        <p:nvSpPr>
          <p:cNvPr id="50" name="Text 47"/>
          <p:cNvSpPr/>
          <p:nvPr/>
        </p:nvSpPr>
        <p:spPr>
          <a:xfrm>
            <a:off x="4661306" y="534009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405274" y="5742432"/>
            <a:ext cx="33811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 movement the verified timeline does not permit.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8170469" y="2377440"/>
            <a:ext cx="338114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426501" y="2615184"/>
            <a:ext cx="28690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C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8426501" y="2944368"/>
            <a:ext cx="2869082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426501" y="309067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EVIDENCE</a:t>
            </a:r>
            <a:endParaRPr lang="en-US" sz="700" dirty="0"/>
          </a:p>
        </p:txBody>
      </p:sp>
      <p:sp>
        <p:nvSpPr>
          <p:cNvPr id="56" name="Shape 53"/>
          <p:cNvSpPr/>
          <p:nvPr/>
        </p:nvSpPr>
        <p:spPr>
          <a:xfrm>
            <a:off x="8426501" y="3273552"/>
            <a:ext cx="566928" cy="237744"/>
          </a:xfrm>
          <a:prstGeom prst="rect">
            <a:avLst/>
          </a:prstGeom>
          <a:solidFill>
            <a:srgbClr val="FDF2E7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426501" y="33375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E-01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9084869" y="3273552"/>
            <a:ext cx="566928" cy="237744"/>
          </a:xfrm>
          <a:prstGeom prst="rect">
            <a:avLst/>
          </a:prstGeom>
          <a:solidFill>
            <a:srgbClr val="FDF2E7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084869" y="33375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E-04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9743237" y="3273552"/>
            <a:ext cx="566928" cy="237744"/>
          </a:xfrm>
          <a:prstGeom prst="rect">
            <a:avLst/>
          </a:prstGeom>
          <a:solidFill>
            <a:srgbClr val="FDF2E7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743237" y="33375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E-06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10401605" y="3273552"/>
            <a:ext cx="566928" cy="237744"/>
          </a:xfrm>
          <a:prstGeom prst="rect">
            <a:avLst/>
          </a:prstGeom>
          <a:solidFill>
            <a:srgbClr val="FDF2E7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0401605" y="33375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E-07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8426501" y="36941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CONFLICTS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8426501" y="38587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66" name="Text 63"/>
          <p:cNvSpPr/>
          <p:nvPr/>
        </p:nvSpPr>
        <p:spPr>
          <a:xfrm>
            <a:off x="8883701" y="3968496"/>
            <a:ext cx="2375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detected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8426501" y="4297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VIOLATIONS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8426501" y="44622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69" name="Text 66"/>
          <p:cNvSpPr/>
          <p:nvPr/>
        </p:nvSpPr>
        <p:spPr>
          <a:xfrm>
            <a:off x="8883701" y="4572000"/>
            <a:ext cx="2375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detected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8426501" y="4901184"/>
            <a:ext cx="2869082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426501" y="50292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EVIDENCE-SUPPORT SCORE</a:t>
            </a:r>
            <a:endParaRPr lang="en-US" sz="700" dirty="0"/>
          </a:p>
        </p:txBody>
      </p:sp>
      <p:sp>
        <p:nvSpPr>
          <p:cNvPr id="72" name="Shape 69"/>
          <p:cNvSpPr/>
          <p:nvPr/>
        </p:nvSpPr>
        <p:spPr>
          <a:xfrm>
            <a:off x="8426501" y="5193792"/>
            <a:ext cx="2869082" cy="109728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73" name="Shape 70"/>
          <p:cNvSpPr/>
          <p:nvPr/>
        </p:nvSpPr>
        <p:spPr>
          <a:xfrm>
            <a:off x="8426501" y="5193792"/>
            <a:ext cx="2410029" cy="109728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74" name="Text 71"/>
          <p:cNvSpPr/>
          <p:nvPr/>
        </p:nvSpPr>
        <p:spPr>
          <a:xfrm>
            <a:off x="8426501" y="534009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75" name="Text 72"/>
          <p:cNvSpPr/>
          <p:nvPr/>
        </p:nvSpPr>
        <p:spPr>
          <a:xfrm>
            <a:off x="8170469" y="5742432"/>
            <a:ext cx="33811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detected conflict; evidence does not yet separate it from A.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77" name="Text 74"/>
          <p:cNvSpPr/>
          <p:nvPr/>
        </p:nvSpPr>
        <p:spPr>
          <a:xfrm>
            <a:off x="640080" y="64282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score ≠ probability that the scenario happened.</a:t>
            </a:r>
            <a:endParaRPr lang="en-US" sz="1150" dirty="0"/>
          </a:p>
        </p:txBody>
      </p:sp>
      <p:sp>
        <p:nvSpPr>
          <p:cNvPr id="78" name="Shape 75"/>
          <p:cNvSpPr/>
          <p:nvPr/>
        </p:nvSpPr>
        <p:spPr>
          <a:xfrm>
            <a:off x="6583680" y="6487668"/>
            <a:ext cx="68580" cy="6858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79" name="Text 76"/>
          <p:cNvSpPr/>
          <p:nvPr/>
        </p:nvSpPr>
        <p:spPr>
          <a:xfrm>
            <a:off x="6739128" y="6446520"/>
            <a:ext cx="47850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WITH AVAILABLE EVIDENCE ONLY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400"/>
            <a:ext cx="293705" cy="117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9176" y="365760"/>
            <a:ext cx="801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1" b="1" spc="307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1051" dirty="0"/>
          </a:p>
        </p:txBody>
      </p:sp>
      <p:sp>
        <p:nvSpPr>
          <p:cNvPr id="4" name="Text 1"/>
          <p:cNvSpPr/>
          <p:nvPr/>
        </p:nvSpPr>
        <p:spPr>
          <a:xfrm>
            <a:off x="9722815" y="365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658368"/>
            <a:ext cx="868680" cy="0"/>
          </a:xfrm>
          <a:prstGeom prst="line">
            <a:avLst/>
          </a:prstGeom>
          <a:noFill/>
          <a:ln w="28575">
            <a:solidFill>
              <a:srgbClr val="B854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3268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 WORKSPACE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2529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evidence.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three explanations.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30975" y="13167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INTERFACE  ·  FICTIONAL CASE MATERIAL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0080" y="2176272"/>
            <a:ext cx="10911535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176272"/>
            <a:ext cx="10911535" cy="310896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" y="24871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299716"/>
            <a:ext cx="68580" cy="68580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14" name="Text 11"/>
          <p:cNvSpPr/>
          <p:nvPr/>
        </p:nvSpPr>
        <p:spPr>
          <a:xfrm>
            <a:off x="950976" y="22677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  ·  CASE WORKSPACE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613855" y="227685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CASE-2401-DEMO   ·   7 EVIDENCE ITEMS   ·   3 SCENARIOS GENERATED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383280" y="2487168"/>
            <a:ext cx="0" cy="3529584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37960" y="2487168"/>
            <a:ext cx="0" cy="3529584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" y="267004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EVIDENCE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59536" y="2907792"/>
            <a:ext cx="2304288" cy="457200"/>
          </a:xfrm>
          <a:prstGeom prst="rect">
            <a:avLst/>
          </a:prstGeom>
          <a:solidFill>
            <a:srgbClr val="F7F7F5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299008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E-01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463040" y="29626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statement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463040" y="31455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at north entrance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859536" y="3438144"/>
            <a:ext cx="2304288" cy="457200"/>
          </a:xfrm>
          <a:prstGeom prst="rect">
            <a:avLst/>
          </a:prstGeom>
          <a:solidFill>
            <a:srgbClr val="F7F7F5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9264" y="35204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E-02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463040" y="34930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 timestamp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463040" y="36758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3 · frame-verified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859536" y="3968496"/>
            <a:ext cx="2304288" cy="457200"/>
          </a:xfrm>
          <a:prstGeom prst="rect">
            <a:avLst/>
          </a:prstGeom>
          <a:solidFill>
            <a:srgbClr val="F7F7F5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9264" y="40507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E-03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463040" y="40233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463040" y="42062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transfer analysis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859536" y="4498848"/>
            <a:ext cx="2304288" cy="457200"/>
          </a:xfrm>
          <a:prstGeom prst="rect">
            <a:avLst/>
          </a:prstGeom>
          <a:solidFill>
            <a:srgbClr val="F7F7F5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9264" y="45811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E-04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463040" y="45537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record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463040" y="47365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position, 20:10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859536" y="5029200"/>
            <a:ext cx="2304288" cy="457200"/>
          </a:xfrm>
          <a:prstGeom prst="rect">
            <a:avLst/>
          </a:prstGeom>
          <a:solidFill>
            <a:srgbClr val="F7F7F5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69264" y="51114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E-05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1463040" y="50840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evidence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463040" y="52669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object, tagged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859536" y="56327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+ 2 ITEMS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3639312" y="267004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4206240" y="2999232"/>
            <a:ext cx="0" cy="219456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639312" y="29626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4165092" y="2985516"/>
            <a:ext cx="82296" cy="82296"/>
          </a:xfrm>
          <a:prstGeom prst="ellipse">
            <a:avLst/>
          </a:prstGeom>
          <a:solidFill>
            <a:srgbClr val="F7F7F5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370832" y="29443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 logged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370832" y="31181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E-02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3639312" y="351129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20:08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4165092" y="3534156"/>
            <a:ext cx="82296" cy="82296"/>
          </a:xfrm>
          <a:prstGeom prst="ellipse">
            <a:avLst/>
          </a:prstGeom>
          <a:solidFill>
            <a:srgbClr val="F7F7F5"/>
          </a:solidFill>
          <a:ln w="12700">
            <a:solidFill>
              <a:srgbClr val="C9A80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370832" y="34930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observation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370832" y="366674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E-01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3639312" y="405993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20:10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165092" y="4082796"/>
            <a:ext cx="82296" cy="82296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370832" y="40416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position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370832" y="421538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E-04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010912" y="42153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650" dirty="0"/>
          </a:p>
        </p:txBody>
      </p:sp>
      <p:sp>
        <p:nvSpPr>
          <p:cNvPr id="55" name="Text 52"/>
          <p:cNvSpPr/>
          <p:nvPr/>
        </p:nvSpPr>
        <p:spPr>
          <a:xfrm>
            <a:off x="3639312" y="460857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20:12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4165092" y="4631436"/>
            <a:ext cx="82296" cy="82296"/>
          </a:xfrm>
          <a:prstGeom prst="ellipse">
            <a:avLst/>
          </a:prstGeom>
          <a:solidFill>
            <a:srgbClr val="F7F7F5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370832" y="45902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evidence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4370832" y="476402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E-05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3639312" y="51572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20:19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165092" y="5180076"/>
            <a:ext cx="82296" cy="82296"/>
          </a:xfrm>
          <a:prstGeom prst="ellipse">
            <a:avLst/>
          </a:prstGeom>
          <a:solidFill>
            <a:srgbClr val="F7F7F5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370832" y="51389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4370832" y="531266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E-03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639312" y="5559552"/>
            <a:ext cx="2642616" cy="329184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64" name="Text 61"/>
          <p:cNvSpPr/>
          <p:nvPr/>
        </p:nvSpPr>
        <p:spPr>
          <a:xfrm>
            <a:off x="3749040" y="5660136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WINDOW  20:04 → 20:19  ·  15 MIN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6793992" y="267004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SCENARIOS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6793992" y="2907792"/>
            <a:ext cx="4538167" cy="566928"/>
          </a:xfrm>
          <a:prstGeom prst="rect">
            <a:avLst/>
          </a:prstGeom>
          <a:solidFill>
            <a:srgbClr val="F7F7F5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922008" y="29992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01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9704527" y="300837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9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SUPPORT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6922008" y="32369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E-01 · E-03 · E-07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6793992" y="3584448"/>
            <a:ext cx="4538167" cy="566928"/>
          </a:xfrm>
          <a:prstGeom prst="rect">
            <a:avLst/>
          </a:prstGeom>
          <a:solidFill>
            <a:srgbClr val="F7F7F5"/>
          </a:solidFill>
          <a:ln w="12700">
            <a:solidFill>
              <a:srgbClr val="B3122E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922008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02</a:t>
            </a:r>
            <a:endParaRPr lang="en-US" sz="950" dirty="0"/>
          </a:p>
        </p:txBody>
      </p:sp>
      <p:sp>
        <p:nvSpPr>
          <p:cNvPr id="72" name="Text 69"/>
          <p:cNvSpPr/>
          <p:nvPr/>
        </p:nvSpPr>
        <p:spPr>
          <a:xfrm>
            <a:off x="9704527" y="368503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90" kern="0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SUPPORT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6922008" y="391363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E-02 · E-05</a:t>
            </a:r>
            <a:endParaRPr lang="en-US" sz="700" dirty="0"/>
          </a:p>
        </p:txBody>
      </p:sp>
      <p:sp>
        <p:nvSpPr>
          <p:cNvPr id="74" name="Shape 71"/>
          <p:cNvSpPr/>
          <p:nvPr/>
        </p:nvSpPr>
        <p:spPr>
          <a:xfrm>
            <a:off x="9997135" y="3931920"/>
            <a:ext cx="64008" cy="64008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75" name="Text 72"/>
          <p:cNvSpPr/>
          <p:nvPr/>
        </p:nvSpPr>
        <p:spPr>
          <a:xfrm>
            <a:off x="10106863" y="390448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B3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IMPOSSIBLE CONDITION</a:t>
            </a:r>
            <a:endParaRPr lang="en-US" sz="650" dirty="0"/>
          </a:p>
        </p:txBody>
      </p:sp>
      <p:sp>
        <p:nvSpPr>
          <p:cNvPr id="76" name="Shape 73"/>
          <p:cNvSpPr/>
          <p:nvPr/>
        </p:nvSpPr>
        <p:spPr>
          <a:xfrm>
            <a:off x="6793992" y="4261104"/>
            <a:ext cx="4538167" cy="566928"/>
          </a:xfrm>
          <a:prstGeom prst="rect">
            <a:avLst/>
          </a:prstGeom>
          <a:solidFill>
            <a:srgbClr val="F7F7F5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922008" y="43525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03</a:t>
            </a:r>
            <a:endParaRPr lang="en-US" sz="950" dirty="0"/>
          </a:p>
        </p:txBody>
      </p:sp>
      <p:sp>
        <p:nvSpPr>
          <p:cNvPr id="78" name="Text 75"/>
          <p:cNvSpPr/>
          <p:nvPr/>
        </p:nvSpPr>
        <p:spPr>
          <a:xfrm>
            <a:off x="9704527" y="436168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9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SUPPORT</a:t>
            </a:r>
            <a:endParaRPr lang="en-US" sz="750" dirty="0"/>
          </a:p>
        </p:txBody>
      </p:sp>
      <p:sp>
        <p:nvSpPr>
          <p:cNvPr id="79" name="Text 76"/>
          <p:cNvSpPr/>
          <p:nvPr/>
        </p:nvSpPr>
        <p:spPr>
          <a:xfrm>
            <a:off x="6922008" y="45902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E-01 · E-04 · E-06 · E-07</a:t>
            </a:r>
            <a:endParaRPr lang="en-US" sz="700" dirty="0"/>
          </a:p>
        </p:txBody>
      </p:sp>
      <p:sp>
        <p:nvSpPr>
          <p:cNvPr id="80" name="Shape 77"/>
          <p:cNvSpPr/>
          <p:nvPr/>
        </p:nvSpPr>
        <p:spPr>
          <a:xfrm>
            <a:off x="6793992" y="5029200"/>
            <a:ext cx="4538167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B3122E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922008" y="5175504"/>
            <a:ext cx="73152" cy="73152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82" name="Text 79"/>
          <p:cNvSpPr/>
          <p:nvPr/>
        </p:nvSpPr>
        <p:spPr>
          <a:xfrm>
            <a:off x="7050024" y="51389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8348472" y="514807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02  ·  SPATIAL + TEMPORAL</a:t>
            </a:r>
            <a:endParaRPr lang="en-US" sz="650" dirty="0"/>
          </a:p>
        </p:txBody>
      </p:sp>
      <p:sp>
        <p:nvSpPr>
          <p:cNvPr id="84" name="Text 81"/>
          <p:cNvSpPr/>
          <p:nvPr/>
        </p:nvSpPr>
        <p:spPr>
          <a:xfrm>
            <a:off x="7050024" y="5358384"/>
            <a:ext cx="42089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requires Person A at Location B at 20:10, while verified evidence places Person A at Location C.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0" y="6181344"/>
            <a:ext cx="12191695" cy="676656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86" name="Text 83"/>
          <p:cNvSpPr/>
          <p:nvPr/>
        </p:nvSpPr>
        <p:spPr>
          <a:xfrm>
            <a:off x="640080" y="641908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investigator compares. The system never concludes.</a:t>
            </a:r>
            <a:endParaRPr lang="en-US" sz="1150" dirty="0"/>
          </a:p>
        </p:txBody>
      </p:sp>
      <p:sp>
        <p:nvSpPr>
          <p:cNvPr id="87" name="Shape 84"/>
          <p:cNvSpPr/>
          <p:nvPr/>
        </p:nvSpPr>
        <p:spPr>
          <a:xfrm>
            <a:off x="6583680" y="6478524"/>
            <a:ext cx="68580" cy="68580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88" name="Text 85"/>
          <p:cNvSpPr/>
          <p:nvPr/>
        </p:nvSpPr>
        <p:spPr>
          <a:xfrm>
            <a:off x="6739128" y="6437376"/>
            <a:ext cx="47850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CITES ITS EVIDENCE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400"/>
            <a:ext cx="293705" cy="117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9176" y="365760"/>
            <a:ext cx="801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1" b="1" spc="307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1051" dirty="0"/>
          </a:p>
        </p:txBody>
      </p:sp>
      <p:sp>
        <p:nvSpPr>
          <p:cNvPr id="4" name="Text 1"/>
          <p:cNvSpPr/>
          <p:nvPr/>
        </p:nvSpPr>
        <p:spPr>
          <a:xfrm>
            <a:off x="9722815" y="365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658368"/>
            <a:ext cx="868680" cy="0"/>
          </a:xfrm>
          <a:prstGeom prst="line">
            <a:avLst/>
          </a:prstGeom>
          <a:noFill/>
          <a:ln w="28575">
            <a:solidFill>
              <a:srgbClr val="B854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3268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RECONSTRUCTION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2529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hypothesis becomes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sequence.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30975" y="13167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 ·  FICTIONAL SCENE  ·  NOT TO SCALE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0080" y="2304288"/>
            <a:ext cx="653796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B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505456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VIEW  ·  HYPOTHESIS H-01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343400" y="2514600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SCHEMATIC · GEOMETRY APPROXIMATE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389888" y="2852928"/>
            <a:ext cx="0" cy="210312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65376" y="2852928"/>
            <a:ext cx="0" cy="210312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40864" y="2852928"/>
            <a:ext cx="0" cy="210312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16352" y="2852928"/>
            <a:ext cx="0" cy="210312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0" y="2852928"/>
            <a:ext cx="0" cy="210312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67328" y="2852928"/>
            <a:ext cx="0" cy="210312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42816" y="2852928"/>
            <a:ext cx="0" cy="210312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18304" y="2852928"/>
            <a:ext cx="0" cy="210312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93792" y="2852928"/>
            <a:ext cx="0" cy="210312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0" y="2852928"/>
            <a:ext cx="0" cy="210312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44768" y="2852928"/>
            <a:ext cx="0" cy="210312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4400" y="3273552"/>
            <a:ext cx="5760720" cy="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400" y="3694176"/>
            <a:ext cx="5760720" cy="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4114800"/>
            <a:ext cx="5760720" cy="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4400" y="4535424"/>
            <a:ext cx="5760720" cy="0"/>
          </a:xfrm>
          <a:prstGeom prst="line">
            <a:avLst/>
          </a:prstGeom>
          <a:noFill/>
          <a:ln w="6350">
            <a:solidFill>
              <a:srgbClr val="F0EF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24128" y="3081528"/>
            <a:ext cx="1234440" cy="868680"/>
          </a:xfrm>
          <a:prstGeom prst="rect">
            <a:avLst/>
          </a:prstGeom>
          <a:solidFill>
            <a:srgbClr val="F7F7F5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33856" y="320954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8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A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133856" y="33741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20:04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303520" y="3858768"/>
            <a:ext cx="1234440" cy="868680"/>
          </a:xfrm>
          <a:prstGeom prst="rect">
            <a:avLst/>
          </a:prstGeom>
          <a:solidFill>
            <a:srgbClr val="F7F7F5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13248" y="39867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8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B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413248" y="41513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20:12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2258568" y="3520440"/>
            <a:ext cx="1417320" cy="0"/>
          </a:xfrm>
          <a:prstGeom prst="line">
            <a:avLst/>
          </a:prstGeom>
          <a:noFill/>
          <a:ln w="15875">
            <a:solidFill>
              <a:srgbClr val="E0842E"/>
            </a:solidFill>
            <a:prstDash val="dash"/>
          </a:ln>
        </p:spPr>
      </p:sp>
      <p:sp>
        <p:nvSpPr>
          <p:cNvPr id="35" name="Shape 32"/>
          <p:cNvSpPr/>
          <p:nvPr/>
        </p:nvSpPr>
        <p:spPr>
          <a:xfrm>
            <a:off x="3675888" y="3520440"/>
            <a:ext cx="0" cy="795528"/>
          </a:xfrm>
          <a:prstGeom prst="line">
            <a:avLst/>
          </a:prstGeom>
          <a:noFill/>
          <a:ln w="15875">
            <a:solidFill>
              <a:srgbClr val="E0842E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3675888" y="4315968"/>
            <a:ext cx="1627632" cy="0"/>
          </a:xfrm>
          <a:prstGeom prst="line">
            <a:avLst/>
          </a:prstGeom>
          <a:noFill/>
          <a:ln w="15875">
            <a:solidFill>
              <a:srgbClr val="E0842E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4864608" y="4187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08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2788920" y="3438144"/>
            <a:ext cx="173736" cy="173736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560320" y="36576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A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3602736" y="3767328"/>
            <a:ext cx="155448" cy="155448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41" name="Text 38"/>
          <p:cNvSpPr/>
          <p:nvPr/>
        </p:nvSpPr>
        <p:spPr>
          <a:xfrm>
            <a:off x="3785616" y="37673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spc="60" kern="0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4553712" y="4233672"/>
            <a:ext cx="173736" cy="173736"/>
          </a:xfrm>
          <a:prstGeom prst="ellipse">
            <a:avLst/>
          </a:prstGeom>
          <a:solidFill>
            <a:srgbClr val="F7F7F5"/>
          </a:solidFill>
          <a:ln w="12700">
            <a:solidFill>
              <a:srgbClr val="E084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315968" y="44622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spc="6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B</a:t>
            </a:r>
            <a:endParaRPr lang="en-US" sz="650" dirty="0"/>
          </a:p>
        </p:txBody>
      </p:sp>
      <p:sp>
        <p:nvSpPr>
          <p:cNvPr id="44" name="Shape 41"/>
          <p:cNvSpPr/>
          <p:nvPr/>
        </p:nvSpPr>
        <p:spPr>
          <a:xfrm>
            <a:off x="1883664" y="3950208"/>
            <a:ext cx="0" cy="1042416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600200" y="4992624"/>
            <a:ext cx="566928" cy="237744"/>
          </a:xfrm>
          <a:prstGeom prst="rect">
            <a:avLst/>
          </a:prstGeom>
          <a:solidFill>
            <a:srgbClr val="FDF2E7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600200" y="505663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E-04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4636008" y="4407408"/>
            <a:ext cx="0" cy="585216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352544" y="4992624"/>
            <a:ext cx="566928" cy="237744"/>
          </a:xfrm>
          <a:prstGeom prst="rect">
            <a:avLst/>
          </a:prstGeom>
          <a:solidFill>
            <a:srgbClr val="FDF2E7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352544" y="505663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E-05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5916168" y="4727448"/>
            <a:ext cx="0" cy="265176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632704" y="4992624"/>
            <a:ext cx="566928" cy="237744"/>
          </a:xfrm>
          <a:prstGeom prst="rect">
            <a:avLst/>
          </a:prstGeom>
          <a:solidFill>
            <a:srgbClr val="FDF2E7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632704" y="505663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E-03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877824" y="47548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spc="8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ANCHORS</a:t>
            </a:r>
            <a:endParaRPr lang="en-US" sz="650" dirty="0"/>
          </a:p>
        </p:txBody>
      </p:sp>
      <p:sp>
        <p:nvSpPr>
          <p:cNvPr id="54" name="Text 51"/>
          <p:cNvSpPr/>
          <p:nvPr/>
        </p:nvSpPr>
        <p:spPr>
          <a:xfrm>
            <a:off x="7589520" y="23042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STORYBOARD SEQUENCE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89520" y="2560320"/>
            <a:ext cx="676656" cy="585216"/>
          </a:xfrm>
          <a:prstGeom prst="rect">
            <a:avLst/>
          </a:prstGeom>
          <a:solidFill>
            <a:srgbClr val="F7F7F5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708392" y="2779776"/>
            <a:ext cx="100584" cy="100584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671816" y="2999232"/>
            <a:ext cx="512064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dash"/>
          </a:ln>
        </p:spPr>
      </p:sp>
      <p:sp>
        <p:nvSpPr>
          <p:cNvPr id="58" name="Text 55"/>
          <p:cNvSpPr/>
          <p:nvPr/>
        </p:nvSpPr>
        <p:spPr>
          <a:xfrm>
            <a:off x="8412480" y="265176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20:04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8412480" y="2834640"/>
            <a:ext cx="31025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A at Location A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7927848" y="3145536"/>
            <a:ext cx="0" cy="192024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589520" y="3337560"/>
            <a:ext cx="676656" cy="585216"/>
          </a:xfrm>
          <a:prstGeom prst="rect">
            <a:avLst/>
          </a:prstGeom>
          <a:solidFill>
            <a:srgbClr val="F7F7F5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818120" y="3557016"/>
            <a:ext cx="100584" cy="100584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671816" y="3776472"/>
            <a:ext cx="512064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dash"/>
          </a:ln>
        </p:spPr>
      </p:sp>
      <p:sp>
        <p:nvSpPr>
          <p:cNvPr id="64" name="Text 61"/>
          <p:cNvSpPr/>
          <p:nvPr/>
        </p:nvSpPr>
        <p:spPr>
          <a:xfrm>
            <a:off x="8412480" y="34290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20:08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8412480" y="3611880"/>
            <a:ext cx="31025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along path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7927848" y="3922776"/>
            <a:ext cx="0" cy="192024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589520" y="4114800"/>
            <a:ext cx="676656" cy="585216"/>
          </a:xfrm>
          <a:prstGeom prst="rect">
            <a:avLst/>
          </a:prstGeom>
          <a:solidFill>
            <a:srgbClr val="F7F7F5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927848" y="4334256"/>
            <a:ext cx="100584" cy="100584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671816" y="4553712"/>
            <a:ext cx="512064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dash"/>
          </a:ln>
        </p:spPr>
      </p:sp>
      <p:sp>
        <p:nvSpPr>
          <p:cNvPr id="70" name="Text 67"/>
          <p:cNvSpPr/>
          <p:nvPr/>
        </p:nvSpPr>
        <p:spPr>
          <a:xfrm>
            <a:off x="8412480" y="420624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20:10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8412480" y="4389120"/>
            <a:ext cx="31025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position change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7927848" y="4700016"/>
            <a:ext cx="0" cy="192024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589520" y="4892040"/>
            <a:ext cx="676656" cy="585216"/>
          </a:xfrm>
          <a:prstGeom prst="rect">
            <a:avLst/>
          </a:prstGeom>
          <a:solidFill>
            <a:srgbClr val="F7F7F5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037576" y="5111496"/>
            <a:ext cx="100584" cy="100584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671816" y="5330952"/>
            <a:ext cx="512064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dash"/>
          </a:ln>
        </p:spPr>
      </p:sp>
      <p:sp>
        <p:nvSpPr>
          <p:cNvPr id="76" name="Text 73"/>
          <p:cNvSpPr/>
          <p:nvPr/>
        </p:nvSpPr>
        <p:spPr>
          <a:xfrm>
            <a:off x="8412480" y="49834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20:12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8412480" y="5166360"/>
            <a:ext cx="31025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A at Location B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640080" y="5870448"/>
            <a:ext cx="10911535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B3122E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59536" y="6108192"/>
            <a:ext cx="82296" cy="82296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80" name="Text 77"/>
          <p:cNvSpPr/>
          <p:nvPr/>
        </p:nvSpPr>
        <p:spPr>
          <a:xfrm>
            <a:off x="1024128" y="60716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STORYBOARD  —  NOT A FACTUAL RECONSTRUCTION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6675120" y="6089904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schematic depiction of one hypothesis. Not photorealistic, not a depiction of real persons, and not a claim about what occurred.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400"/>
            <a:ext cx="293705" cy="117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9176" y="365760"/>
            <a:ext cx="801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1" b="1" spc="307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1051" dirty="0"/>
          </a:p>
        </p:txBody>
      </p:sp>
      <p:sp>
        <p:nvSpPr>
          <p:cNvPr id="4" name="Text 1"/>
          <p:cNvSpPr/>
          <p:nvPr/>
        </p:nvSpPr>
        <p:spPr>
          <a:xfrm>
            <a:off x="9722815" y="365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658368"/>
            <a:ext cx="868680" cy="0"/>
          </a:xfrm>
          <a:prstGeom prst="line">
            <a:avLst/>
          </a:prstGeom>
          <a:noFill/>
          <a:ln w="28575">
            <a:solidFill>
              <a:srgbClr val="B854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3268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CONTRIBUTION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2529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evidence generate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plausible, testable hypotheses?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30975" y="13167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 ·  NOT YET BUILT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0080" y="2359152"/>
            <a:ext cx="3566160" cy="1572768"/>
          </a:xfrm>
          <a:prstGeom prst="rect">
            <a:avLst/>
          </a:prstGeom>
          <a:solidFill>
            <a:srgbClr val="FDF2E7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54203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77824" y="2743200"/>
            <a:ext cx="3090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evaluation resource exists for evidence-to-plausible-hypothesis generation.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77824" y="3639312"/>
            <a:ext cx="3090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 →  PLAUSIBLE HYPOTHESES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40080" y="416966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/ CURATED EVALUATION DATASET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40080" y="43525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60–80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2514600" y="4608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packages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5029200"/>
            <a:ext cx="356616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51572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640080" y="5399532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20" name="Text 17"/>
          <p:cNvSpPr/>
          <p:nvPr/>
        </p:nvSpPr>
        <p:spPr>
          <a:xfrm>
            <a:off x="768096" y="5358384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forensic case studies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40080" y="5609844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" y="5568696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reconstructions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40080" y="5820156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24" name="Text 21"/>
          <p:cNvSpPr/>
          <p:nvPr/>
        </p:nvSpPr>
        <p:spPr>
          <a:xfrm>
            <a:off x="768096" y="5779008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Accident-reconstruction literature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40080" y="6030468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26" name="Text 23"/>
          <p:cNvSpPr/>
          <p:nvPr/>
        </p:nvSpPr>
        <p:spPr>
          <a:xfrm>
            <a:off x="768096" y="5989320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forensic reports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40080" y="6240780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28" name="Text 25"/>
          <p:cNvSpPr/>
          <p:nvPr/>
        </p:nvSpPr>
        <p:spPr>
          <a:xfrm>
            <a:off x="768096" y="6199632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structured accident datasets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453128" y="2331720"/>
            <a:ext cx="0" cy="374904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09160" y="237744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4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ONE EVIDENCE PACKAGE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4709160" y="2697480"/>
            <a:ext cx="100584" cy="100584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59452" y="2816352"/>
            <a:ext cx="0" cy="36576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65192" y="2651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949440" y="2660904"/>
            <a:ext cx="4602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Typed, source-linked assertions extracted from the case record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709160" y="3182112"/>
            <a:ext cx="100584" cy="100584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759452" y="3300984"/>
            <a:ext cx="0" cy="36576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65192" y="31363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/ LOCATION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949440" y="3145536"/>
            <a:ext cx="4602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Anchors that bound where and when events could occur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666744"/>
            <a:ext cx="100584" cy="100584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59452" y="3785616"/>
            <a:ext cx="0" cy="36576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65192" y="3621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EVIDENCE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949440" y="3630168"/>
            <a:ext cx="4602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items, measurements and their properties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709160" y="4151376"/>
            <a:ext cx="100584" cy="100584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759452" y="4270248"/>
            <a:ext cx="0" cy="36576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965192" y="41056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 STATEMENTS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949440" y="4114800"/>
            <a:ext cx="4602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Accounts, including ones that conflict with the record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709160" y="4636008"/>
            <a:ext cx="100584" cy="100584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759452" y="4754880"/>
            <a:ext cx="0" cy="36576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965192" y="4590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949440" y="4599432"/>
            <a:ext cx="4602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results reported for the case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709160" y="5120640"/>
            <a:ext cx="100584" cy="100584"/>
          </a:xfrm>
          <a:prstGeom prst="ellipse">
            <a:avLst/>
          </a:prstGeom>
          <a:solidFill>
            <a:srgbClr val="B3122E"/>
          </a:solidFill>
          <a:ln w="12700">
            <a:solidFill>
              <a:srgbClr val="B3122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59452" y="5239512"/>
            <a:ext cx="0" cy="365760"/>
          </a:xfrm>
          <a:prstGeom prst="line">
            <a:avLst/>
          </a:prstGeom>
          <a:noFill/>
          <a:ln w="9525">
            <a:solidFill>
              <a:srgbClr val="B3122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965192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GROUND-TRUTH SEQUENCE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6949440" y="5084064"/>
            <a:ext cx="4602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documented sequence, held out for evaluation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709160" y="5605272"/>
            <a:ext cx="100584" cy="100584"/>
          </a:xfrm>
          <a:prstGeom prst="ellipse">
            <a:avLst/>
          </a:prstGeom>
          <a:solidFill>
            <a:srgbClr val="B3122E"/>
          </a:solidFill>
          <a:ln w="12700">
            <a:solidFill>
              <a:srgbClr val="B3122E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965192" y="55595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CONSTRAINTS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6949440" y="5568696"/>
            <a:ext cx="4602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Temporal, spatial and physical limits the case implies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709160" y="5943600"/>
            <a:ext cx="64008" cy="64008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59" name="Text 56"/>
          <p:cNvSpPr/>
          <p:nvPr/>
        </p:nvSpPr>
        <p:spPr>
          <a:xfrm>
            <a:off x="4837176" y="5916168"/>
            <a:ext cx="67144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HELD-OUT COMPONENTS — USED ONLY FOR SCORING, NEVER SHOWN TO THE SYSTEM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640080" y="634593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IS PROPOSED WORK.  NO PACKAGES HAVE BEEN CURATED OR EVALUATED AT THIS STAGE.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400"/>
            <a:ext cx="293705" cy="117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9176" y="365760"/>
            <a:ext cx="801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1" b="1" spc="307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1051" dirty="0"/>
          </a:p>
        </p:txBody>
      </p:sp>
      <p:sp>
        <p:nvSpPr>
          <p:cNvPr id="4" name="Text 1"/>
          <p:cNvSpPr/>
          <p:nvPr/>
        </p:nvSpPr>
        <p:spPr>
          <a:xfrm>
            <a:off x="9722815" y="365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658368"/>
            <a:ext cx="868680" cy="0"/>
          </a:xfrm>
          <a:prstGeom prst="line">
            <a:avLst/>
          </a:prstGeom>
          <a:noFill/>
          <a:ln w="28575">
            <a:solidFill>
              <a:srgbClr val="B854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3268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METHODOLOGY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2529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know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 is useful?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30975" y="13167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ONLY  ·  NO RESULTS CLAIMED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2522144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2596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" y="2907792"/>
            <a:ext cx="208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59536" y="3474720"/>
            <a:ext cx="2083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ground-truth sequence appear among the generated candidates?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59536" y="4169664"/>
            <a:ext cx="2083232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4261104"/>
            <a:ext cx="215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TOP-1 · TOP-3 · TOP-5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3436544" y="2377440"/>
            <a:ext cx="2522144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6000" y="2596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56000" y="2907792"/>
            <a:ext cx="208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656000" y="3474720"/>
            <a:ext cx="2083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generated scenario introduce facts the evidence does not support?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6000" y="4169664"/>
            <a:ext cx="2083232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6000" y="4261104"/>
            <a:ext cx="215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UNSUPPORTED-FACT RATE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233008" y="2377440"/>
            <a:ext cx="2522144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52464" y="2596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52464" y="2907792"/>
            <a:ext cx="208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52464" y="3474720"/>
            <a:ext cx="2083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scenario violate temporal, spatial or physical constraints?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52464" y="4169664"/>
            <a:ext cx="2083232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52464" y="4261104"/>
            <a:ext cx="215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VIOLATIONS PER SCENARIO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9029471" y="2377440"/>
            <a:ext cx="2522144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248927" y="25968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248927" y="2907792"/>
            <a:ext cx="208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spc="9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9248927" y="3474720"/>
            <a:ext cx="2083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conflicts with witness statements correctly identified and reported?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9248927" y="4169664"/>
            <a:ext cx="2083232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48927" y="4261104"/>
            <a:ext cx="215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 · RECALL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4008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 BASELINE COMPARISON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40080" y="5010912"/>
            <a:ext cx="2057400" cy="658368"/>
          </a:xfrm>
          <a:prstGeom prst="rect">
            <a:avLst/>
          </a:prstGeom>
          <a:solidFill>
            <a:srgbClr val="FDF2E7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6384" y="5120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86384" y="53218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evidence-constrained generation + checking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2715768" y="52578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2971800" y="5010912"/>
            <a:ext cx="2057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118104" y="5120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BASELINE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118104" y="53218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heuristics over the same packages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5047488" y="52578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303520" y="5010912"/>
            <a:ext cx="2057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49824" y="5120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EVALUATION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449824" y="53218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judgement on the same packages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7909560" y="4974336"/>
            <a:ext cx="0" cy="73152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183880" y="475488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8183880" y="5056632"/>
            <a:ext cx="64008" cy="64008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49" name="Text 46"/>
          <p:cNvSpPr/>
          <p:nvPr/>
        </p:nvSpPr>
        <p:spPr>
          <a:xfrm>
            <a:off x="8339328" y="50109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k-fold evaluation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183880" y="5294376"/>
            <a:ext cx="64008" cy="64008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51" name="Text 48"/>
          <p:cNvSpPr/>
          <p:nvPr/>
        </p:nvSpPr>
        <p:spPr>
          <a:xfrm>
            <a:off x="8339328" y="52486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 testing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8183880" y="5532120"/>
            <a:ext cx="64008" cy="64008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53" name="Text 50"/>
          <p:cNvSpPr/>
          <p:nvPr/>
        </p:nvSpPr>
        <p:spPr>
          <a:xfrm>
            <a:off x="8339328" y="54864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error analysis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55" name="Text 52"/>
          <p:cNvSpPr/>
          <p:nvPr/>
        </p:nvSpPr>
        <p:spPr>
          <a:xfrm>
            <a:off x="640080" y="640080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metrics. No performance figures are claimed.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6583680" y="6460236"/>
            <a:ext cx="68580" cy="6858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57" name="Text 54"/>
          <p:cNvSpPr/>
          <p:nvPr/>
        </p:nvSpPr>
        <p:spPr>
          <a:xfrm>
            <a:off x="6739128" y="6419088"/>
            <a:ext cx="47850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AGAINST HELD-OUT GROUND TRUTH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400"/>
            <a:ext cx="293705" cy="117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9176" y="365760"/>
            <a:ext cx="801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1" b="1" spc="307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1051" dirty="0"/>
          </a:p>
        </p:txBody>
      </p:sp>
      <p:sp>
        <p:nvSpPr>
          <p:cNvPr id="4" name="Text 1"/>
          <p:cNvSpPr/>
          <p:nvPr/>
        </p:nvSpPr>
        <p:spPr>
          <a:xfrm>
            <a:off x="9722815" y="365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658368"/>
            <a:ext cx="868680" cy="0"/>
          </a:xfrm>
          <a:prstGeom prst="line">
            <a:avLst/>
          </a:prstGeom>
          <a:noFill/>
          <a:ln w="28575">
            <a:solidFill>
              <a:srgbClr val="B854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3268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FEASIBILITY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2529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where the evidence is structured.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limited where it isn't.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30975" y="13167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DEFINED BEFORE BUILD, NOT AFTER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26151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32688" y="2871216"/>
            <a:ext cx="457200" cy="0"/>
          </a:xfrm>
          <a:prstGeom prst="line">
            <a:avLst/>
          </a:prstGeom>
          <a:noFill/>
          <a:ln w="25400">
            <a:solidFill>
              <a:srgbClr val="B8540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3163824"/>
            <a:ext cx="77724" cy="77724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3108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ingestion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32688" y="3621024"/>
            <a:ext cx="77724" cy="77724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16" name="Text 13"/>
          <p:cNvSpPr/>
          <p:nvPr/>
        </p:nvSpPr>
        <p:spPr>
          <a:xfrm>
            <a:off x="1115568" y="35661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extraction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32688" y="4078224"/>
            <a:ext cx="77724" cy="77724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18" name="Text 15"/>
          <p:cNvSpPr/>
          <p:nvPr/>
        </p:nvSpPr>
        <p:spPr>
          <a:xfrm>
            <a:off x="1115568" y="40233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reasoning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32688" y="4535424"/>
            <a:ext cx="77724" cy="77724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20" name="Text 17"/>
          <p:cNvSpPr/>
          <p:nvPr/>
        </p:nvSpPr>
        <p:spPr>
          <a:xfrm>
            <a:off x="1115568" y="4480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over case evidence (RAG)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32688" y="4992624"/>
            <a:ext cx="77724" cy="77724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22" name="Text 19"/>
          <p:cNvSpPr/>
          <p:nvPr/>
        </p:nvSpPr>
        <p:spPr>
          <a:xfrm>
            <a:off x="1115568" y="4937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Multi-hypothesis generation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419856" y="3163824"/>
            <a:ext cx="77724" cy="77724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24" name="Text 21"/>
          <p:cNvSpPr/>
          <p:nvPr/>
        </p:nvSpPr>
        <p:spPr>
          <a:xfrm>
            <a:off x="3602736" y="3108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checking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419856" y="3621024"/>
            <a:ext cx="77724" cy="77724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26" name="Text 23"/>
          <p:cNvSpPr/>
          <p:nvPr/>
        </p:nvSpPr>
        <p:spPr>
          <a:xfrm>
            <a:off x="3602736" y="35661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Contradiction detection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419856" y="4078224"/>
            <a:ext cx="77724" cy="77724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28" name="Text 25"/>
          <p:cNvSpPr/>
          <p:nvPr/>
        </p:nvSpPr>
        <p:spPr>
          <a:xfrm>
            <a:off x="3602736" y="40233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Evidence-support scoring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419856" y="4535424"/>
            <a:ext cx="77724" cy="77724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30" name="Text 27"/>
          <p:cNvSpPr/>
          <p:nvPr/>
        </p:nvSpPr>
        <p:spPr>
          <a:xfrm>
            <a:off x="3602736" y="4480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2D / 3D storyboard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32688" y="5413248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REUSES A PROVEN INTAKE / RAG / EXPLAINABILITY / AUDIT ARCHITECTURE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6446520" y="2377440"/>
            <a:ext cx="5105095" cy="3291840"/>
          </a:xfrm>
          <a:prstGeom prst="rect">
            <a:avLst/>
          </a:prstGeom>
          <a:solidFill>
            <a:srgbClr val="F7F7F5"/>
          </a:solidFill>
          <a:ln w="12700">
            <a:solidFill>
              <a:srgbClr val="DCDBD6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6739128" y="261518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739128" y="2871216"/>
            <a:ext cx="457200" cy="0"/>
          </a:xfrm>
          <a:prstGeom prst="line">
            <a:avLst/>
          </a:prstGeom>
          <a:noFill/>
          <a:ln w="25400">
            <a:solidFill>
              <a:srgbClr val="B3122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739128" y="3145536"/>
            <a:ext cx="118872" cy="118872"/>
          </a:xfrm>
          <a:prstGeom prst="rect">
            <a:avLst/>
          </a:prstGeom>
          <a:ln w="15875">
            <a:solidFill>
              <a:srgbClr val="B3122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13448" y="3127248"/>
            <a:ext cx="4190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Photorealistic crime video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013448" y="3364992"/>
            <a:ext cx="4190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render carries an authority the evidence cannot support.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739128" y="3931920"/>
            <a:ext cx="118872" cy="118872"/>
          </a:xfrm>
          <a:prstGeom prst="rect">
            <a:avLst/>
          </a:prstGeom>
          <a:ln w="15875">
            <a:solidFill>
              <a:srgbClr val="B3122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013448" y="3913632"/>
            <a:ext cx="4190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guilt determination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7013448" y="4151376"/>
            <a:ext cx="4190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evaluates consistency, never culpability.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739128" y="4718304"/>
            <a:ext cx="118872" cy="118872"/>
          </a:xfrm>
          <a:prstGeom prst="rect">
            <a:avLst/>
          </a:prstGeom>
          <a:ln w="15875">
            <a:solidFill>
              <a:srgbClr val="B3122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13448" y="4700016"/>
            <a:ext cx="4190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final investigative decision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7013448" y="4937760"/>
            <a:ext cx="4190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investigator remains accountable for the conclusion.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6739128" y="5358384"/>
            <a:ext cx="4519879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39128" y="5468112"/>
            <a:ext cx="45198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scope is a feature, not a weakness.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47" name="Text 44"/>
          <p:cNvSpPr/>
          <p:nvPr/>
        </p:nvSpPr>
        <p:spPr>
          <a:xfrm>
            <a:off x="640080" y="640080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excluded capability is excluded for a defensible reason.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6583680" y="6460236"/>
            <a:ext cx="68580" cy="68580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49" name="Text 46"/>
          <p:cNvSpPr/>
          <p:nvPr/>
        </p:nvSpPr>
        <p:spPr>
          <a:xfrm>
            <a:off x="6739128" y="6419088"/>
            <a:ext cx="47850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&gt; IMPRESSIVE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400"/>
            <a:ext cx="293705" cy="117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9176" y="365760"/>
            <a:ext cx="801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1" b="1" spc="307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1051" dirty="0"/>
          </a:p>
        </p:txBody>
      </p:sp>
      <p:sp>
        <p:nvSpPr>
          <p:cNvPr id="4" name="Text 1"/>
          <p:cNvSpPr/>
          <p:nvPr/>
        </p:nvSpPr>
        <p:spPr>
          <a:xfrm>
            <a:off x="9722815" y="365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658368"/>
            <a:ext cx="868680" cy="0"/>
          </a:xfrm>
          <a:prstGeom prst="line">
            <a:avLst/>
          </a:prstGeom>
          <a:noFill/>
          <a:ln w="28575">
            <a:solidFill>
              <a:srgbClr val="B854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3268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2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2529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research prototype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investigator-grade system.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30975" y="13167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 ·  EACH PHASE VALIDATES THE NEXT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914400" y="2706624"/>
            <a:ext cx="1036289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2638044"/>
            <a:ext cx="137160" cy="137160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5603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2962656"/>
            <a:ext cx="199211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3182112"/>
            <a:ext cx="162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9536" y="3474720"/>
            <a:ext cx="365760" cy="0"/>
          </a:xfrm>
          <a:prstGeom prst="line">
            <a:avLst/>
          </a:prstGeom>
          <a:noFill/>
          <a:ln w="25400">
            <a:solidFill>
              <a:srgbClr val="B8540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9536" y="3694176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3639312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schema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59536" y="4005072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3950208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construction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59536" y="4315968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4261104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representation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59536" y="5212080"/>
            <a:ext cx="155320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9536" y="5303520"/>
            <a:ext cx="162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+ CASE PACKAGES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3089392" y="2638044"/>
            <a:ext cx="137160" cy="137160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45424" y="25603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2869936" y="2962656"/>
            <a:ext cx="199211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89392" y="3182112"/>
            <a:ext cx="162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089392" y="3474720"/>
            <a:ext cx="365760" cy="0"/>
          </a:xfrm>
          <a:prstGeom prst="line">
            <a:avLst/>
          </a:prstGeom>
          <a:noFill/>
          <a:ln w="25400">
            <a:solidFill>
              <a:srgbClr val="B8540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089392" y="3694176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30" name="Text 27"/>
          <p:cNvSpPr/>
          <p:nvPr/>
        </p:nvSpPr>
        <p:spPr>
          <a:xfrm>
            <a:off x="3235696" y="3639312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089392" y="4005072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32" name="Text 29"/>
          <p:cNvSpPr/>
          <p:nvPr/>
        </p:nvSpPr>
        <p:spPr>
          <a:xfrm>
            <a:off x="3235696" y="3950208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089392" y="4315968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34" name="Text 31"/>
          <p:cNvSpPr/>
          <p:nvPr/>
        </p:nvSpPr>
        <p:spPr>
          <a:xfrm>
            <a:off x="3235696" y="4261104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(RAG)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089392" y="4626864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36" name="Text 33"/>
          <p:cNvSpPr/>
          <p:nvPr/>
        </p:nvSpPr>
        <p:spPr>
          <a:xfrm>
            <a:off x="3235696" y="4572000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generation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089392" y="4937760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38" name="Text 35"/>
          <p:cNvSpPr/>
          <p:nvPr/>
        </p:nvSpPr>
        <p:spPr>
          <a:xfrm>
            <a:off x="3235696" y="4882896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checking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089392" y="5212080"/>
            <a:ext cx="155320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089392" y="5303520"/>
            <a:ext cx="162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PIPELINE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5319248" y="2638044"/>
            <a:ext cx="137160" cy="137160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75280" y="25603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5099792" y="2962656"/>
            <a:ext cx="199211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319248" y="3182112"/>
            <a:ext cx="162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319248" y="3474720"/>
            <a:ext cx="365760" cy="0"/>
          </a:xfrm>
          <a:prstGeom prst="line">
            <a:avLst/>
          </a:prstGeom>
          <a:noFill/>
          <a:ln w="25400">
            <a:solidFill>
              <a:srgbClr val="B8540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319248" y="3694176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47" name="Text 44"/>
          <p:cNvSpPr/>
          <p:nvPr/>
        </p:nvSpPr>
        <p:spPr>
          <a:xfrm>
            <a:off x="5465552" y="3639312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representation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319248" y="4005072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49" name="Text 46"/>
          <p:cNvSpPr/>
          <p:nvPr/>
        </p:nvSpPr>
        <p:spPr>
          <a:xfrm>
            <a:off x="5465552" y="3950208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storyboard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5319248" y="4315968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51" name="Text 48"/>
          <p:cNvSpPr/>
          <p:nvPr/>
        </p:nvSpPr>
        <p:spPr>
          <a:xfrm>
            <a:off x="5465552" y="4261104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comparison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319248" y="5212080"/>
            <a:ext cx="155320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319248" y="5303520"/>
            <a:ext cx="162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STORYBOARD RENDERER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7549104" y="2638044"/>
            <a:ext cx="137160" cy="137160"/>
          </a:xfrm>
          <a:prstGeom prst="ellipse">
            <a:avLst/>
          </a:prstGeom>
          <a:solidFill>
            <a:srgbClr val="B8540C"/>
          </a:solidFill>
          <a:ln w="12700">
            <a:solidFill>
              <a:srgbClr val="B8540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805136" y="25603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7329648" y="2962656"/>
            <a:ext cx="199211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549104" y="3182112"/>
            <a:ext cx="162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7549104" y="3474720"/>
            <a:ext cx="365760" cy="0"/>
          </a:xfrm>
          <a:prstGeom prst="line">
            <a:avLst/>
          </a:prstGeom>
          <a:noFill/>
          <a:ln w="25400">
            <a:solidFill>
              <a:srgbClr val="B8540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549104" y="3694176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60" name="Text 57"/>
          <p:cNvSpPr/>
          <p:nvPr/>
        </p:nvSpPr>
        <p:spPr>
          <a:xfrm>
            <a:off x="7695408" y="3639312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60–80 case packages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549104" y="4005072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62" name="Text 59"/>
          <p:cNvSpPr/>
          <p:nvPr/>
        </p:nvSpPr>
        <p:spPr>
          <a:xfrm>
            <a:off x="7695408" y="3950208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7549104" y="4315968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64" name="Text 61"/>
          <p:cNvSpPr/>
          <p:nvPr/>
        </p:nvSpPr>
        <p:spPr>
          <a:xfrm>
            <a:off x="7695408" y="4261104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· faithfulness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7549104" y="4626864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66" name="Text 63"/>
          <p:cNvSpPr/>
          <p:nvPr/>
        </p:nvSpPr>
        <p:spPr>
          <a:xfrm>
            <a:off x="7695408" y="4572000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· consistency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7549104" y="5212080"/>
            <a:ext cx="155320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7549104" y="5303520"/>
            <a:ext cx="162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+ ERROR ANALYSIS</a:t>
            </a:r>
            <a:endParaRPr lang="en-US" sz="650" dirty="0"/>
          </a:p>
        </p:txBody>
      </p:sp>
      <p:sp>
        <p:nvSpPr>
          <p:cNvPr id="69" name="Shape 66"/>
          <p:cNvSpPr/>
          <p:nvPr/>
        </p:nvSpPr>
        <p:spPr>
          <a:xfrm>
            <a:off x="9778959" y="2638044"/>
            <a:ext cx="137160" cy="137160"/>
          </a:xfrm>
          <a:prstGeom prst="ellipse">
            <a:avLst/>
          </a:prstGeom>
          <a:solidFill>
            <a:srgbClr val="B3122E"/>
          </a:solidFill>
          <a:ln w="12700">
            <a:solidFill>
              <a:srgbClr val="B3122E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0034991" y="25603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3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50" dirty="0"/>
          </a:p>
        </p:txBody>
      </p:sp>
      <p:sp>
        <p:nvSpPr>
          <p:cNvPr id="71" name="Shape 68"/>
          <p:cNvSpPr/>
          <p:nvPr/>
        </p:nvSpPr>
        <p:spPr>
          <a:xfrm>
            <a:off x="9559503" y="2962656"/>
            <a:ext cx="199211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DBD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778959" y="3182112"/>
            <a:ext cx="162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OUTPUT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9778959" y="3474720"/>
            <a:ext cx="365760" cy="0"/>
          </a:xfrm>
          <a:prstGeom prst="line">
            <a:avLst/>
          </a:prstGeom>
          <a:noFill/>
          <a:ln w="25400">
            <a:solidFill>
              <a:srgbClr val="B3122E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778959" y="3694176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75" name="Text 72"/>
          <p:cNvSpPr/>
          <p:nvPr/>
        </p:nvSpPr>
        <p:spPr>
          <a:xfrm>
            <a:off x="9925263" y="3639312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9778959" y="4005072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77" name="Text 74"/>
          <p:cNvSpPr/>
          <p:nvPr/>
        </p:nvSpPr>
        <p:spPr>
          <a:xfrm>
            <a:off x="9925263" y="3950208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paper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9778959" y="4315968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79" name="Text 76"/>
          <p:cNvSpPr/>
          <p:nvPr/>
        </p:nvSpPr>
        <p:spPr>
          <a:xfrm>
            <a:off x="9925263" y="4261104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paper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778959" y="4626864"/>
            <a:ext cx="54864" cy="54864"/>
          </a:xfrm>
          <a:prstGeom prst="rect">
            <a:avLst/>
          </a:prstGeom>
          <a:solidFill>
            <a:srgbClr val="E0842E"/>
          </a:solidFill>
          <a:ln/>
        </p:spPr>
      </p:sp>
      <p:sp>
        <p:nvSpPr>
          <p:cNvPr id="81" name="Text 78"/>
          <p:cNvSpPr/>
          <p:nvPr/>
        </p:nvSpPr>
        <p:spPr>
          <a:xfrm>
            <a:off x="9925263" y="4572000"/>
            <a:ext cx="142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evaluation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9778959" y="5212080"/>
            <a:ext cx="155320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778959" y="5303520"/>
            <a:ext cx="162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B3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 + THREE PAPERS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EEEDE8"/>
          </a:solidFill>
          <a:ln/>
        </p:spPr>
      </p:sp>
      <p:sp>
        <p:nvSpPr>
          <p:cNvPr id="85" name="Text 82"/>
          <p:cNvSpPr/>
          <p:nvPr/>
        </p:nvSpPr>
        <p:spPr>
          <a:xfrm>
            <a:off x="640080" y="626364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output is the deliverable — not a deployment claim.</a:t>
            </a:r>
            <a:endParaRPr lang="en-US" sz="1150" dirty="0"/>
          </a:p>
        </p:txBody>
      </p:sp>
      <p:sp>
        <p:nvSpPr>
          <p:cNvPr id="86" name="Shape 83"/>
          <p:cNvSpPr/>
          <p:nvPr/>
        </p:nvSpPr>
        <p:spPr>
          <a:xfrm>
            <a:off x="6583680" y="6323076"/>
            <a:ext cx="68580" cy="68580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87" name="Text 84"/>
          <p:cNvSpPr/>
          <p:nvPr/>
        </p:nvSpPr>
        <p:spPr>
          <a:xfrm>
            <a:off x="6739128" y="6281928"/>
            <a:ext cx="14730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8239658" y="6323076"/>
            <a:ext cx="68580" cy="68580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89" name="Text 86"/>
          <p:cNvSpPr/>
          <p:nvPr/>
        </p:nvSpPr>
        <p:spPr>
          <a:xfrm>
            <a:off x="8395106" y="6281928"/>
            <a:ext cx="14730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SET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9895637" y="6323076"/>
            <a:ext cx="68580" cy="68580"/>
          </a:xfrm>
          <a:prstGeom prst="rect">
            <a:avLst/>
          </a:prstGeom>
          <a:solidFill>
            <a:srgbClr val="B8540C"/>
          </a:solidFill>
          <a:ln/>
        </p:spPr>
      </p:sp>
      <p:sp>
        <p:nvSpPr>
          <p:cNvPr id="91" name="Text 88"/>
          <p:cNvSpPr/>
          <p:nvPr/>
        </p:nvSpPr>
        <p:spPr>
          <a:xfrm>
            <a:off x="10051085" y="6281928"/>
            <a:ext cx="14730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PAPERS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400"/>
            <a:ext cx="293705" cy="117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9176" y="365760"/>
            <a:ext cx="8010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1" b="1" spc="307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1051" dirty="0"/>
          </a:p>
        </p:txBody>
      </p:sp>
      <p:sp>
        <p:nvSpPr>
          <p:cNvPr id="4" name="Text 1"/>
          <p:cNvSpPr/>
          <p:nvPr/>
        </p:nvSpPr>
        <p:spPr>
          <a:xfrm>
            <a:off x="9722815" y="365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40080" y="658368"/>
            <a:ext cx="10911535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658368"/>
            <a:ext cx="868680" cy="0"/>
          </a:xfrm>
          <a:prstGeom prst="line">
            <a:avLst/>
          </a:prstGeom>
          <a:noFill/>
          <a:ln w="28575">
            <a:solidFill>
              <a:srgbClr val="B854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5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happened?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235915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 doesn't answer with one story.</a:t>
            </a:r>
            <a:endParaRPr lang="en-US" sz="1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shows the possibilities that the evidence can support.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" y="3529584"/>
            <a:ext cx="3108960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71246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4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GENERATE.   CHECK.   COMPARE.   INVESTIGATE.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4041648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SYSTEM NARROWS THE FIELD.  THE INVESTIGATOR CLOSES IT.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793992" y="1280160"/>
            <a:ext cx="0" cy="310896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78040" y="13167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12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7178040" y="1572768"/>
            <a:ext cx="60350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78040" y="1664208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E-01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7781544" y="1719072"/>
            <a:ext cx="310896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78040" y="1975104"/>
            <a:ext cx="60350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2066544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E-02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7781544" y="2121408"/>
            <a:ext cx="310896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78040" y="2377440"/>
            <a:ext cx="60350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78040" y="246888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E-03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7781544" y="2523744"/>
            <a:ext cx="310896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78040" y="2779776"/>
            <a:ext cx="60350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842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78040" y="2871216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54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E-04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7781544" y="2926080"/>
            <a:ext cx="310896" cy="0"/>
          </a:xfrm>
          <a:prstGeom prst="line">
            <a:avLst/>
          </a:prstGeom>
          <a:noFill/>
          <a:ln w="9525">
            <a:solidFill>
              <a:srgbClr val="DCDBD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92440" y="1719072"/>
            <a:ext cx="0" cy="1207008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92440" y="1719072"/>
            <a:ext cx="0" cy="1207008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92440" y="1773936"/>
            <a:ext cx="292608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85048" y="1572768"/>
            <a:ext cx="1463040" cy="402336"/>
          </a:xfrm>
          <a:prstGeom prst="rect">
            <a:avLst/>
          </a:prstGeom>
          <a:solidFill>
            <a:srgbClr val="FDF2E7"/>
          </a:solidFill>
          <a:ln w="9525">
            <a:solidFill>
              <a:srgbClr val="B8540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94776" y="1709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8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A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8092440" y="2414016"/>
            <a:ext cx="292608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85048" y="2212848"/>
            <a:ext cx="1463040" cy="402336"/>
          </a:xfrm>
          <a:prstGeom prst="rect">
            <a:avLst/>
          </a:prstGeom>
          <a:solidFill>
            <a:srgbClr val="FDF2E7"/>
          </a:solidFill>
          <a:ln w="9525">
            <a:solidFill>
              <a:srgbClr val="B8540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94776" y="235000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8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B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8092440" y="3054096"/>
            <a:ext cx="292608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85048" y="2852928"/>
            <a:ext cx="1463040" cy="402336"/>
          </a:xfrm>
          <a:prstGeom prst="rect">
            <a:avLst/>
          </a:prstGeom>
          <a:solidFill>
            <a:srgbClr val="FDF2E7"/>
          </a:solidFill>
          <a:ln w="9525">
            <a:solidFill>
              <a:srgbClr val="B8540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94776" y="299008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80" kern="0" dirty="0">
                <a:solidFill>
                  <a:srgbClr val="B854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C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848088" y="1773936"/>
            <a:ext cx="292608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848088" y="2414016"/>
            <a:ext cx="292608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848088" y="3054096"/>
            <a:ext cx="292608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140696" y="1773936"/>
            <a:ext cx="0" cy="128016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140696" y="2414016"/>
            <a:ext cx="274320" cy="0"/>
          </a:xfrm>
          <a:prstGeom prst="line">
            <a:avLst/>
          </a:prstGeom>
          <a:noFill/>
          <a:ln w="9525">
            <a:solidFill>
              <a:srgbClr val="E0842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415016" y="2157984"/>
            <a:ext cx="1207008" cy="51206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3" name="Text 40"/>
          <p:cNvSpPr/>
          <p:nvPr/>
        </p:nvSpPr>
        <p:spPr>
          <a:xfrm>
            <a:off x="10415016" y="2276856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0415016" y="245059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10287000" y="28529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9C9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RESTS HERE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141414"/>
          </a:solidFill>
          <a:ln/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321808"/>
            <a:ext cx="658368" cy="263347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1444752" y="53583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BAKKE</a:t>
            </a:r>
            <a:endParaRPr lang="en-US" sz="2100" dirty="0"/>
          </a:p>
        </p:txBody>
      </p:sp>
      <p:sp>
        <p:nvSpPr>
          <p:cNvPr id="49" name="Shape 45"/>
          <p:cNvSpPr/>
          <p:nvPr/>
        </p:nvSpPr>
        <p:spPr>
          <a:xfrm>
            <a:off x="640080" y="5815584"/>
            <a:ext cx="1005840" cy="0"/>
          </a:xfrm>
          <a:prstGeom prst="line">
            <a:avLst/>
          </a:prstGeom>
          <a:noFill/>
          <a:ln w="28575">
            <a:solidFill>
              <a:srgbClr val="B3122E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40080" y="59801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Acoustic Evidence Intelligence Platform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640080" y="61996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decision support  ·  Human in the loop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6309360" y="5559552"/>
            <a:ext cx="73152" cy="73152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53" name="Text 49"/>
          <p:cNvSpPr/>
          <p:nvPr/>
        </p:nvSpPr>
        <p:spPr>
          <a:xfrm>
            <a:off x="6547104" y="5486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 THE EVIDENCE.</a:t>
            </a:r>
            <a:endParaRPr lang="en-US" sz="1500" dirty="0"/>
          </a:p>
        </p:txBody>
      </p:sp>
      <p:sp>
        <p:nvSpPr>
          <p:cNvPr id="54" name="Shape 50"/>
          <p:cNvSpPr/>
          <p:nvPr/>
        </p:nvSpPr>
        <p:spPr>
          <a:xfrm>
            <a:off x="6309360" y="6016752"/>
            <a:ext cx="73152" cy="73152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55" name="Text 51"/>
          <p:cNvSpPr/>
          <p:nvPr/>
        </p:nvSpPr>
        <p:spPr>
          <a:xfrm>
            <a:off x="6547104" y="5943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THE POSSIBILITIES.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BAKKE — Acoustic Evidence Intelligence Platform</dc:title>
  <dc:subject>PptxGenJS Presentation</dc:subject>
  <dc:creator>BAKKE</dc:creator>
  <cp:lastModifiedBy>BAKKE</cp:lastModifiedBy>
  <cp:revision>1</cp:revision>
  <dcterms:created xsi:type="dcterms:W3CDTF">2026-08-14T05:45:41Z</dcterms:created>
  <dcterms:modified xsi:type="dcterms:W3CDTF">2026-08-14T05:45:41Z</dcterms:modified>
</cp:coreProperties>
</file>